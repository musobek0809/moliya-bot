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18120" y="0"/>
            <a:ext cx="4379976" cy="5989320"/>
          </a:xfrm>
          <a:prstGeom prst="rect">
            <a:avLst/>
          </a:prstGeom>
          <a:solidFill>
            <a:srgbClr val="E8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20040"/>
            <a:ext cx="4533900" cy="5440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11480"/>
            <a:ext cx="6949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ПРОДАЮЩАЯ ПРЕЗЕНТАЦИЯ ДЛЯ РЕСТОРАНОВ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69494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ROBOSANT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69494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Сервисные роботы в вашем ресторане — доставка блюд, сбор посуды и уборка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80360"/>
            <a:ext cx="6949440" cy="86868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99232"/>
            <a:ext cx="66751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Мы не обычный импортёр. Мы — Robotics Solutions Partner.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694944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«Вы тестируете технологию у себя в ресторане и видите реальную пользу для бизнеса.»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2648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    ·    Robotics Solutions Partner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РЫНОК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Где ресторан теряет деньги?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41248"/>
            <a:ext cx="11338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Дефицит персонала, пиковые часы и нестабильный сервис съедают маржу.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25880"/>
            <a:ext cx="5623560" cy="217627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453896"/>
            <a:ext cx="52943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Медленный пик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801368"/>
            <a:ext cx="529437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Кухня готова, зал ждёт. Оборачиваемость столов падает — падает выручка.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623560" cy="217627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453896"/>
            <a:ext cx="52943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Дорогие кадры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801368"/>
            <a:ext cx="529437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Официант бегает с подносом. На гостя, допродажи и сервис времени нет.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657600"/>
            <a:ext cx="5623560" cy="217627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3785616"/>
            <a:ext cx="52943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Ошибки и проливы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4133088"/>
            <a:ext cx="529437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К концу смены растут ошибки: не тот стол, холодное блюдо, негатив.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5623560" cy="217627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785616"/>
            <a:ext cx="52943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Нет отличия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133088"/>
            <a:ext cx="529437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Гость ждёт современный сервис и опыт, которым хочется делиться.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ПОДХОД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Почему STARLAB — партнёр, а не продавец?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41248"/>
            <a:ext cx="11338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Не «поставить и уйти»: адаптация под объект, обучение, сервис и измеримый результат.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7160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499616"/>
            <a:ext cx="241401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Пилот в живом ресторане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47088"/>
            <a:ext cx="2414016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Технологию обкатываем на реальной смене. Вам — не демо-цифры, а рабочий сценарий.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37160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499616"/>
            <a:ext cx="241401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Решение, не коробка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47088"/>
            <a:ext cx="2414016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Модель, карта, Wi-Fi, сценарии персонала — один проект внедрения.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137160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499616"/>
            <a:ext cx="241401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Локальный сервис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847088"/>
            <a:ext cx="2414016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Установка в Узбекистане, гарантия, ЗИП и поддержка 24/7.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98864" y="137160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3456" y="1499616"/>
            <a:ext cx="241401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Бренд Robosant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47088"/>
            <a:ext cx="2414016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Робот в зале — лицо вашего сервиса. Имя, сценарий и UX гостя собираем вместе.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ЛИНЕЙКА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Семейство роботов для ресторана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41248"/>
            <a:ext cx="11338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Под одним контуром: доставка, встреча, сбор посуды, клининг.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25880"/>
            <a:ext cx="2174991" cy="50292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2174991" cy="91440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463040"/>
            <a:ext cx="202868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Robosant BellaBot</a:t>
            </a:r>
          </a:p>
        </p:txBody>
      </p:sp>
      <p:pic>
        <p:nvPicPr>
          <p:cNvPr id="13" name="Picture 12" descr="b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57400"/>
            <a:ext cx="1790700" cy="2148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4251960"/>
            <a:ext cx="199211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Доставка блюд и напитков
4 полки · 40 кг
Dual SLAM · 13 часов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87055" y="1325880"/>
            <a:ext cx="2174991" cy="50292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87055" y="1325880"/>
            <a:ext cx="2174991" cy="91440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0207" y="1463040"/>
            <a:ext cx="202868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PuduBot 2</a:t>
            </a:r>
          </a:p>
        </p:txBody>
      </p:sp>
      <p:pic>
        <p:nvPicPr>
          <p:cNvPr id="18" name="Picture 17" descr="pudu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223" y="2057400"/>
            <a:ext cx="1651260" cy="21488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778495" y="4251960"/>
            <a:ext cx="199211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Универсальная доставка
3–7 полок · 40 кг
VSLAM+ и LiDAR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08351" y="1325880"/>
            <a:ext cx="2174991" cy="50292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8351" y="1325880"/>
            <a:ext cx="2174991" cy="91440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1503" y="1463040"/>
            <a:ext cx="202868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KettyBot Pro</a:t>
            </a:r>
          </a:p>
        </p:txBody>
      </p:sp>
      <p:pic>
        <p:nvPicPr>
          <p:cNvPr id="23" name="Picture 22" descr="ket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9519" y="2057400"/>
            <a:ext cx="1637558" cy="21488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99791" y="4251960"/>
            <a:ext cx="199211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Встреча + реклама
Экран 18,5" · узкий проход
Провод гостя к столу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9647" y="1325880"/>
            <a:ext cx="2174991" cy="50292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9647" y="1325880"/>
            <a:ext cx="2174991" cy="91440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2799" y="1463040"/>
            <a:ext cx="202868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HolaBot</a:t>
            </a:r>
          </a:p>
        </p:txBody>
      </p:sp>
      <p:pic>
        <p:nvPicPr>
          <p:cNvPr id="28" name="Picture 27" descr="hol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0815" y="2057400"/>
            <a:ext cx="1389711" cy="21488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21087" y="4251960"/>
            <a:ext cx="199211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Сбор посуды
Закрытые отсеки · 60 кг
Кнопка вызова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50943" y="1325880"/>
            <a:ext cx="2174991" cy="50292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50943" y="1325880"/>
            <a:ext cx="2174991" cy="91440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24095" y="1463040"/>
            <a:ext cx="202868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CC1 Pro</a:t>
            </a:r>
          </a:p>
        </p:txBody>
      </p:sp>
      <p:pic>
        <p:nvPicPr>
          <p:cNvPr id="33" name="Picture 32" descr="c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2111" y="2057400"/>
            <a:ext cx="1208118" cy="21488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742383" y="4251960"/>
            <a:ext cx="199211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Уборка 4-в-1
Подмет, мойка, вакуум
Тысячи м² за смену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МОДЕЛЬ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Robosant BellaBot — звезда зала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41248"/>
            <a:ext cx="11338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На платформе PUDU BellaBot: радует гостя и разгружает официанта.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234440"/>
            <a:ext cx="3246120" cy="512064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4038600" cy="48463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703320" y="1234440"/>
            <a:ext cx="4434840" cy="512064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371600"/>
            <a:ext cx="4160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4 полки по 10 кг, суммарно 40 кг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Dual SLAM: LiDAR + визуальная навигация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3 камеры RGBD, реакция ~0,5 сек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Автомобильная подвеска — блюда не проливаются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ИК-датчики полок: пусто / занято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Горячая замена батареи: работа 24/7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PUDU Link: вызов, мониторинг, статистика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Скорость 0,5–1,2 м/с, проход ~65–70 см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23444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36245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Габарит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169164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56,5 × 53,7 × 129 см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9839" y="123444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04703" y="136245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Вес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04703" y="169164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55 кг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251460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0184" y="264261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Нагрузка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4" y="297180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40 кг (10 кг / полка)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39" y="251460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04703" y="264261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Полка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04703" y="297180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41 × 50 см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79476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392277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Батарея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4" y="425196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13 ч (без нагрузки)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39" y="379476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04703" y="392277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Заряд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04703" y="425196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4,5 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507492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520293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Уклон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0184" y="553212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≤ 5°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49839" y="507492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04703" y="520293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Навигация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04703" y="553212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Dual SLAM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МОДЕЛЬ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PuduBot 2 и KettyBot — поток и маркетинг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5623560" cy="5074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udu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791793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60320" y="1554480"/>
            <a:ext cx="32004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PuduBot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0"/>
            <a:ext cx="5166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Универсальный доставщик: еда, напитки, документы, мелкий груз. Стандарт 3 полки, до 7. VSLAM+ и 2 LiDAR. Надёжная «грузовая» платформа кухня–зал.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80160"/>
            <a:ext cx="5623560" cy="5074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ket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1776925" cy="2331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66760" y="1554480"/>
            <a:ext cx="32004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KettyBot 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40480"/>
            <a:ext cx="5166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Для узких кафе: проход 52–55 см. Экран 18,5" — меню, акции, бренд. Проводит гостя к столу, в круизе развозит закуски. 2 полки, 30 кг.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МОДЕЛЬ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HolaBot и CC1 Pro — снимаем тяжёлую рутину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5623560" cy="5074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o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507984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60320" y="1554480"/>
            <a:ext cx="32004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HolaBot — сбор посуды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0"/>
            <a:ext cx="5166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Закрытые отсеки, до 60 кг. Официант нажимает кнопку — робот увозит посуду. Меньше шума и проливов, зал выглядит чище в пик.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80160"/>
            <a:ext cx="5623560" cy="5074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1310937" cy="2331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66760" y="1554480"/>
            <a:ext cx="32004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CC1 Pro — клининг 4-в-1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40480"/>
            <a:ext cx="5166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Подметание, мойка, вакуум и сухая протирка. VSLAM+ + LiDAR. Холл, проходы, зона у кухни. Персонал возвращается к гостю.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СРАВНЕНИЕ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Какой робот под какую задачу?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1920240" cy="713232"/>
          </a:xfrm>
          <a:prstGeom prst="rect">
            <a:avLst/>
          </a:prstGeom>
          <a:solidFill>
            <a:srgbClr val="0B3A6A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1490472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Модель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325880"/>
            <a:ext cx="2331720" cy="713232"/>
          </a:xfrm>
          <a:prstGeom prst="rect">
            <a:avLst/>
          </a:prstGeom>
          <a:solidFill>
            <a:srgbClr val="0B3A6A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40864" y="1490472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Задача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325880"/>
            <a:ext cx="1554480" cy="713232"/>
          </a:xfrm>
          <a:prstGeom prst="rect">
            <a:avLst/>
          </a:prstGeom>
          <a:solidFill>
            <a:srgbClr val="0B3A6A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1490472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Нагрузка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2286000" cy="713232"/>
          </a:xfrm>
          <a:prstGeom prst="rect">
            <a:avLst/>
          </a:prstGeom>
          <a:solidFill>
            <a:srgbClr val="0B3A6A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490472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Полки / отсеки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1325880"/>
            <a:ext cx="1691640" cy="713232"/>
          </a:xfrm>
          <a:prstGeom prst="rect">
            <a:avLst/>
          </a:prstGeom>
          <a:solidFill>
            <a:srgbClr val="0B3A6A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4" y="1490472"/>
            <a:ext cx="1600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Проход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0" y="1325880"/>
            <a:ext cx="1645920" cy="713232"/>
          </a:xfrm>
          <a:prstGeom prst="rect">
            <a:avLst/>
          </a:prstGeom>
          <a:solidFill>
            <a:srgbClr val="0B3A6A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04704" y="1490472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Смена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039112"/>
            <a:ext cx="192024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2203704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BellaBot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2039112"/>
            <a:ext cx="233172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40864" y="2203704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Доставка, WOW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2039112"/>
            <a:ext cx="155448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72584" y="2203704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40 кг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2039112"/>
            <a:ext cx="228600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27064" y="2203704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4 открытые полки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58200" y="2039112"/>
            <a:ext cx="169164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13064" y="2203704"/>
            <a:ext cx="1600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~65 см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49840" y="2039112"/>
            <a:ext cx="164592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04704" y="2203704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13+ 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752344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" y="2916936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PuduBot 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2752344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40864" y="2916936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Универсальная доставка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17720" y="2752344"/>
            <a:ext cx="1554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72584" y="2916936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40 кг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2752344"/>
            <a:ext cx="2286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7064" y="2916936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3–7 полок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8200" y="2752344"/>
            <a:ext cx="1691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13064" y="2916936"/>
            <a:ext cx="1600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средний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49840" y="2752344"/>
            <a:ext cx="1645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04704" y="2916936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длинная смена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465576"/>
            <a:ext cx="192024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4" y="3630168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KettyBot Pro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0" y="3465576"/>
            <a:ext cx="233172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40864" y="3630168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Встреча + реклама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17720" y="3465576"/>
            <a:ext cx="155448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72584" y="3630168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30 кг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3465576"/>
            <a:ext cx="228600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27064" y="3630168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2 полки + экран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8200" y="3465576"/>
            <a:ext cx="169164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13064" y="3630168"/>
            <a:ext cx="1600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52–55 см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149840" y="3465576"/>
            <a:ext cx="164592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04704" y="3630168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8–12 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178808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0624" y="434340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HolaBot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86000" y="4178808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340864" y="434340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Сбор посуды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17720" y="4178808"/>
            <a:ext cx="1554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72584" y="434340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60 кг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72200" y="4178808"/>
            <a:ext cx="2286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27064" y="43434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закрытые отсеки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58200" y="4178808"/>
            <a:ext cx="1691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13064" y="4343400"/>
            <a:ext cx="1600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зал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149840" y="4178808"/>
            <a:ext cx="1645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04704" y="434340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8–10 ч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4892040"/>
            <a:ext cx="192024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0624" y="5056632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CC1 Pro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86000" y="4892040"/>
            <a:ext cx="233172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340864" y="5056632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Уборка пола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17720" y="4892040"/>
            <a:ext cx="155448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72584" y="5056632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клининг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72200" y="4892040"/>
            <a:ext cx="228600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27064" y="5056632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4-в-1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58200" y="4892040"/>
            <a:ext cx="169164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13064" y="5056632"/>
            <a:ext cx="1600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холл/проход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149840" y="4892040"/>
            <a:ext cx="164592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204704" y="5056632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9 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ВЫГОДА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Что получает ресторан?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408176"/>
            <a:ext cx="34015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Быстрее сервис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755648"/>
            <a:ext cx="3401568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Несколько столов за один рейс. В пике доставка быстрее на 30–40% — мировая практика.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28016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1408176"/>
            <a:ext cx="34015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Официант у гостя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1755648"/>
            <a:ext cx="3401568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Не разнос, а продажи и гостеприимство. Растут upsell и чаевые.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8016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408176"/>
            <a:ext cx="34015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Стабильное качество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755648"/>
            <a:ext cx="3401568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Робот не устаёт и не путает стол — одинаков в начале и в конце смены.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922776"/>
            <a:ext cx="34015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Опыт гостя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270248"/>
            <a:ext cx="3401568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Мордочка BellaBot, голос и свет — магнит для семей. Контент расходится сам.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9476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6552" y="3922776"/>
            <a:ext cx="34015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Меньше кадрового риска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4270248"/>
            <a:ext cx="3401568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Один человек на больничном — зал не встаёт. Базовую нагрузку держит робот.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79476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3922776"/>
            <a:ext cx="34015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Чистый зал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4270248"/>
            <a:ext cx="3401568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Посуда уходит быстрее, пол в стандарте чистоты ночью и утром.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ЭКОНОМИКА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Как окупается: логика, не демо-цифры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41248"/>
            <a:ext cx="11338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Точный ROI считается после карты объекта и пилотной смены. Ниже — логика решения.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45336"/>
            <a:ext cx="245973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Снижение затрат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92808"/>
            <a:ext cx="2459736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Повторяющиеся рейсы доставки и сбора. Меньше нужды в дополнительной смене на пике.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545336"/>
            <a:ext cx="245973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Рост выручки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92808"/>
            <a:ext cx="2459736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Стол освобождается быстрее. Гость не ждёт — возвращается. Робот сам делает маркетинг.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545336"/>
            <a:ext cx="245973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Дешевле ошибки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892808"/>
            <a:ext cx="2459736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Меньше неверных столов, проливов и компенсаций, меньше негативных отзывов.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98864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3456" y="1545336"/>
            <a:ext cx="245973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Управление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92808"/>
            <a:ext cx="2459736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Дашборд: рейсы, узкие зоны, пик. Решения по данным, не по ощущению.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ВНЕДРЕНИЕ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4 шага: от пилота к смене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24231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Аудит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06324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Зал, путь кухни, Wi-Fi, пандус, самый узкий проход, сценарий пика.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2918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0128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1645920"/>
            <a:ext cx="24231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33172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Пилот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06324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1 робот в вашем зале. Карта, обучение, замер 7–14 дней.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6168" y="32918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1645920"/>
            <a:ext cx="24231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33172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Настройка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06324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Кнопки вызова, экран-меню, голос бренда, регламент персонала.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0536" y="32918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98864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81744" y="1645920"/>
            <a:ext cx="24231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6024" y="233172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Сервис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6" y="306324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Гарантия, ТО, ЗИП, обучение новых смен.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БЕЗОПАСНОСТЬ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Безопасно рядом с гостем и персоналом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25880"/>
            <a:ext cx="11338560" cy="498348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LiDAR + камеры: человек, ножка стула, сумка — останавливается и объезжает.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Скорость под зал. Сценарии с детьми и колясками отрабатываем на обучении.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Закрытые отсеки (HolaBot / тип FlashBot) — горячее и приватная доставка.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Автозаряд: при низком заряде сам уходит на станцию.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Флот: планировщик исключает столкновения роботов.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КОНКУРЕНТЫ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Почему эта линейка?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11338560" cy="114300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237744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PUDU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481328"/>
            <a:ext cx="83210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100 000+ роботов, 80+ стран. BellaBot — самое узнаваемое «лицо» ресторанного сегмента.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542032"/>
            <a:ext cx="11338560" cy="11430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79192"/>
            <a:ext cx="237744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KEENON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743200"/>
            <a:ext cx="83210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T8/T9/T10 — узкий зал и высокая нагрузка. Hilton, Shangri-La, сети фастфуда.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803904"/>
            <a:ext cx="11338560" cy="114300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41064"/>
            <a:ext cx="237744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Bear / OrionStar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005072"/>
            <a:ext cx="83210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Сервисные роботы США и Азии — берём лучшие сценарии UX и внедряем у вас.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065776"/>
            <a:ext cx="11338560" cy="11430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02936"/>
            <a:ext cx="237744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Отличие STARLAB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266944"/>
            <a:ext cx="83210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Опыт IT, лицензий и AI + локальный сервис. Робот стыкуется с вашей инфраструктурой.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ПАКЕТ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Что вы получаете?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2718739" cy="105156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389888"/>
            <a:ext cx="27187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1 год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810512"/>
            <a:ext cx="2572435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гарантия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4811" y="1280160"/>
            <a:ext cx="2718739" cy="105156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4811" y="1389888"/>
            <a:ext cx="27187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7963" y="1810512"/>
            <a:ext cx="2572435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сервис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1280160"/>
            <a:ext cx="2718739" cy="105156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8143" y="1389888"/>
            <a:ext cx="27187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PUDU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1295" y="1810512"/>
            <a:ext cx="2572435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STARLAB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475" y="1280160"/>
            <a:ext cx="2718739" cy="105156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475" y="1389888"/>
            <a:ext cx="27187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Robosant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627" y="1810512"/>
            <a:ext cx="2572435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бренд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560320"/>
            <a:ext cx="8595360" cy="3749039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743200"/>
            <a:ext cx="8138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Робот + зарядная станция + базовые аксессуары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Карта объекта и настройка навигации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Обучение персонала (зал + кухня, 1–2 смены)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Сценарий гостя: голос, экран, имя бренда Robosant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1 год гарантии и локальная техподдержка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Масштаб: 2-й робот, клининг, гостиничная линейка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2560320"/>
            <a:ext cx="2606040" cy="3749039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2697480"/>
            <a:ext cx="28956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8638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Следующий шаг — 30-минутное демо в вашем зале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7863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Смотрим карту, проход робота и закрываем вопрос пикового часа вместе.</a:t>
            </a:r>
          </a:p>
        </p:txBody>
      </p:sp>
      <p:pic>
        <p:nvPicPr>
          <p:cNvPr id="7" name="Picture 6" descr="b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365760"/>
            <a:ext cx="1943100" cy="2331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246888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2514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+998 71 200 19 99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46888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788920"/>
            <a:ext cx="2514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info@starlab.uz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46888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788920"/>
            <a:ext cx="2514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starlab.uz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46888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788920"/>
            <a:ext cx="2514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Ташкент, Чиланзар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40480"/>
            <a:ext cx="10972800" cy="1051560"/>
          </a:xfrm>
          <a:prstGeom prst="roundRect">
            <a:avLst>
              <a:gd name="adj" fmla="val 8000"/>
            </a:avLst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Запросите демо и коммерческое предложение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20640"/>
            <a:ext cx="10972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