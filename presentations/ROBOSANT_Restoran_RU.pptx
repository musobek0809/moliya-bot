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B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01168" y="0"/>
            <a:ext cx="73152" cy="6858000"/>
          </a:xfrm>
          <a:prstGeom prst="rect">
            <a:avLst/>
          </a:prstGeom>
          <a:solidFill>
            <a:srgbClr val="1A6B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5989320"/>
            <a:ext cx="12191695" cy="868680"/>
          </a:xfrm>
          <a:prstGeom prst="rect">
            <a:avLst/>
          </a:prstGeom>
          <a:solidFill>
            <a:srgbClr val="0B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11480"/>
            <a:ext cx="109728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>
                <a:solidFill>
                  <a:srgbClr val="1A6BB5"/>
                </a:solidFill>
                <a:latin typeface="Calibri"/>
                <a:ea typeface="Calibri"/>
                <a:cs typeface="Calibri"/>
              </a:rPr>
              <a:t>ПРОДАЮЩАЯ ПРЕЗЕНТАЦИЯ ДЛЯ РЕСТОРАНОВ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914400"/>
            <a:ext cx="10972800" cy="10058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54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ROBOSANT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65960"/>
            <a:ext cx="105156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0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Сервисные роботы в вашем ресторане — доставка блюд, сбор посуды и уборка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788920"/>
            <a:ext cx="10789920" cy="640080"/>
          </a:xfrm>
          <a:prstGeom prst="roundRect">
            <a:avLst>
              <a:gd name="adj" fmla="val 8000"/>
            </a:avLst>
          </a:prstGeom>
          <a:solidFill>
            <a:srgbClr val="E8F3FC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907792"/>
            <a:ext cx="104241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Мы не обычный импортёр. Мы — Robotics Solutions Partner.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657600"/>
            <a:ext cx="10789920" cy="11887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000" b="0">
                <a:solidFill>
                  <a:srgbClr val="5A6E84"/>
                </a:solidFill>
                <a:latin typeface="Calibri"/>
                <a:ea typeface="Calibri"/>
                <a:cs typeface="Calibri"/>
              </a:rPr>
              <a:t>«Вы тестируете технологию у себя в ресторане и видите реальную пользу для бизнеса.»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126480"/>
            <a:ext cx="109728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STARLAB  ·  Robotics Solutions Partner  ·  starlab.uz  ·  +998 71 200 19 99    ·    Robotics Solutions Partner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6B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B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STARLAB  ·  Robotics Solutions Partner  ·  starlab.uz  ·  +998 71 200 19 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656832"/>
            <a:ext cx="155448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01168"/>
            <a:ext cx="1133856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>
                <a:solidFill>
                  <a:srgbClr val="1A6BB5"/>
                </a:solidFill>
                <a:latin typeface="Calibri"/>
                <a:ea typeface="Calibri"/>
                <a:cs typeface="Calibri"/>
              </a:rPr>
              <a:t>РЫНОК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20624"/>
            <a:ext cx="11338560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Где ресторан теряет деньги?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841248"/>
            <a:ext cx="11338560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>
                <a:solidFill>
                  <a:srgbClr val="5A6E84"/>
                </a:solidFill>
                <a:latin typeface="Calibri"/>
                <a:ea typeface="Calibri"/>
                <a:cs typeface="Calibri"/>
              </a:rPr>
              <a:t>Дефицит персонала, пиковые часы и нестабильный сервис съедают маржу.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325880"/>
            <a:ext cx="5623560" cy="2176272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6072" y="1453896"/>
            <a:ext cx="5294376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Медленный пик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" y="1801368"/>
            <a:ext cx="5294376" cy="1591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Кухня готова, зал ждёт. Оборачиваемость столов падает — падает выручка.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325880"/>
            <a:ext cx="5623560" cy="2176272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82512" y="1453896"/>
            <a:ext cx="5294376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Дорогие кадры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82512" y="1801368"/>
            <a:ext cx="5294376" cy="1591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Официант бегает с подносом. На гостя, допродажи и сервис времени нет.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1480" y="3657600"/>
            <a:ext cx="5623560" cy="2176272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6072" y="3785616"/>
            <a:ext cx="5294376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Ошибки и проливы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6072" y="4133088"/>
            <a:ext cx="5294376" cy="1591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К концу смены растут ошибки: не тот стол, холодное блюдо, негатив.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3657600"/>
            <a:ext cx="5623560" cy="2176272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82512" y="3785616"/>
            <a:ext cx="5294376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Нет отличия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82512" y="4133088"/>
            <a:ext cx="5294376" cy="1591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Гость ждёт современный сервис и опыт, которым хочется делиться.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6B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B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STARLAB  ·  Robotics Solutions Partner  ·  starlab.uz  ·  +998 71 200 19 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656832"/>
            <a:ext cx="155448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01168"/>
            <a:ext cx="1133856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>
                <a:solidFill>
                  <a:srgbClr val="1A6BB5"/>
                </a:solidFill>
                <a:latin typeface="Calibri"/>
                <a:ea typeface="Calibri"/>
                <a:cs typeface="Calibri"/>
              </a:rPr>
              <a:t>ПОДХОД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20624"/>
            <a:ext cx="11338560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Почему STARLAB — партнёр, а не продавец?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841248"/>
            <a:ext cx="11338560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>
                <a:solidFill>
                  <a:srgbClr val="5A6E84"/>
                </a:solidFill>
                <a:latin typeface="Calibri"/>
                <a:ea typeface="Calibri"/>
                <a:cs typeface="Calibri"/>
              </a:rPr>
              <a:t>Не «поставить и уйти»: адаптация под объект, обучение, сервис и измеримый результат.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371600"/>
            <a:ext cx="2743200" cy="4937760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1499616"/>
            <a:ext cx="2414016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Пилот в живом ресторане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1847088"/>
            <a:ext cx="2414016" cy="4352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Технологию обкатываем на реальной смене. Вам — не демо-цифры, а рабочий сценарий.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10128" y="1371600"/>
            <a:ext cx="2743200" cy="4937760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720" y="1499616"/>
            <a:ext cx="2414016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Решение, не коробка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1847088"/>
            <a:ext cx="2414016" cy="4352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Модель, карта, Wi-Fi, сценарии персонала — один проект внедрения.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54496" y="1371600"/>
            <a:ext cx="2743200" cy="4937760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9088" y="1499616"/>
            <a:ext cx="2414016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Локальный сервис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9088" y="1847088"/>
            <a:ext cx="2414016" cy="4352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Установка в Узбекистане, гарантия, ЗИП и поддержка 24/7.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98864" y="1371600"/>
            <a:ext cx="2743200" cy="4937760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63456" y="1499616"/>
            <a:ext cx="2414016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Бренд Robosant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63456" y="1847088"/>
            <a:ext cx="2414016" cy="4352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Робот в зале — лицо вашего сервиса. Имя, сценарий и UX гостя собираем вместе.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6B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B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STARLAB  ·  Robotics Solutions Partner  ·  starlab.uz  ·  +998 71 200 19 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656832"/>
            <a:ext cx="155448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01168"/>
            <a:ext cx="1133856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>
                <a:solidFill>
                  <a:srgbClr val="1A6BB5"/>
                </a:solidFill>
                <a:latin typeface="Calibri"/>
                <a:ea typeface="Calibri"/>
                <a:cs typeface="Calibri"/>
              </a:rPr>
              <a:t>ЛИНЕЙКА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20624"/>
            <a:ext cx="11338560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Семейство роботов для ресторана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841248"/>
            <a:ext cx="11338560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>
                <a:solidFill>
                  <a:srgbClr val="5A6E84"/>
                </a:solidFill>
                <a:latin typeface="Calibri"/>
                <a:ea typeface="Calibri"/>
                <a:cs typeface="Calibri"/>
              </a:rPr>
              <a:t>Под одним контуром: доставка, встреча, сбор посуды, клининг.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371600"/>
            <a:ext cx="2174991" cy="4937760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371600"/>
            <a:ext cx="2174991" cy="109728"/>
          </a:xfrm>
          <a:prstGeom prst="rect">
            <a:avLst/>
          </a:prstGeom>
          <a:solidFill>
            <a:srgbClr val="1A6B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1645920"/>
            <a:ext cx="1955535" cy="10058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5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Robosant BellaBot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" y="2743200"/>
            <a:ext cx="195553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Доставка блюд и напитков
4 полки · 40 кг
Dual SLAM · 13 часов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87055" y="1371600"/>
            <a:ext cx="2174991" cy="4937760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687055" y="1371600"/>
            <a:ext cx="2174991" cy="109728"/>
          </a:xfrm>
          <a:prstGeom prst="rect">
            <a:avLst/>
          </a:prstGeom>
          <a:solidFill>
            <a:srgbClr val="1A6B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96783" y="1645920"/>
            <a:ext cx="1955535" cy="10058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5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PuduBot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96783" y="2743200"/>
            <a:ext cx="195553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Универсальная доставка
3–7 полок · 40 кг
VSLAM+ и LiDAR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08351" y="1371600"/>
            <a:ext cx="2174991" cy="4937760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08351" y="1371600"/>
            <a:ext cx="2174991" cy="109728"/>
          </a:xfrm>
          <a:prstGeom prst="rect">
            <a:avLst/>
          </a:prstGeom>
          <a:solidFill>
            <a:srgbClr val="1A6B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18079" y="1645920"/>
            <a:ext cx="1955535" cy="10058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5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KettyBot Pro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18079" y="2743200"/>
            <a:ext cx="195553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Встреча + реклама
Экран 18,5" · узкий проход
Провод гостя к столу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29647" y="1371600"/>
            <a:ext cx="2174991" cy="4937760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29647" y="1371600"/>
            <a:ext cx="2174991" cy="109728"/>
          </a:xfrm>
          <a:prstGeom prst="rect">
            <a:avLst/>
          </a:prstGeom>
          <a:solidFill>
            <a:srgbClr val="1A6B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39375" y="1645920"/>
            <a:ext cx="1955535" cy="10058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5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HolaBot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39375" y="2743200"/>
            <a:ext cx="195553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Сбор посуды
Закрытые отсеки · 60 кг
Кнопка вызова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650943" y="1371600"/>
            <a:ext cx="2174991" cy="4937760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650943" y="1371600"/>
            <a:ext cx="2174991" cy="109728"/>
          </a:xfrm>
          <a:prstGeom prst="rect">
            <a:avLst/>
          </a:prstGeom>
          <a:solidFill>
            <a:srgbClr val="1A6B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760671" y="1645920"/>
            <a:ext cx="1955535" cy="10058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5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CC1 Pro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60671" y="2743200"/>
            <a:ext cx="195553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Уборка 4-в-1
Подмет, мойка, вакуум
Тысячи м² за смену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6B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B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STARLAB  ·  Robotics Solutions Partner  ·  starlab.uz  ·  +998 71 200 19 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656832"/>
            <a:ext cx="155448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01168"/>
            <a:ext cx="1133856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>
                <a:solidFill>
                  <a:srgbClr val="1A6BB5"/>
                </a:solidFill>
                <a:latin typeface="Calibri"/>
                <a:ea typeface="Calibri"/>
                <a:cs typeface="Calibri"/>
              </a:rPr>
              <a:t>МОДЕЛЬ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20624"/>
            <a:ext cx="11338560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Robosant BellaBot — звезда зала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841248"/>
            <a:ext cx="11338560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>
                <a:solidFill>
                  <a:srgbClr val="5A6E84"/>
                </a:solidFill>
                <a:latin typeface="Calibri"/>
                <a:ea typeface="Calibri"/>
                <a:cs typeface="Calibri"/>
              </a:rPr>
              <a:t>На платформе PUDU BellaBot: радует гостя и разгружает официанта.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280160"/>
            <a:ext cx="6675120" cy="5074920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463040"/>
            <a:ext cx="6309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▸  4 полки по 10 кг, суммарно 40 кг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▸  Dual SLAM: LiDAR + визуальная навигация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▸  3 камеры RGBD, реакция ~0,5 сек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▸  Автомобильная подвеска — блюда не проливаются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▸  ИК-датчики полок: пусто / занято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▸  Горячая замена батареи: работа 24/7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▸  PUDU Link: вызов, мониторинг, статистика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▸  Скорость 0,5–1,2 м/с, проход ~65–70 см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23760" y="1280160"/>
            <a:ext cx="2194560" cy="1143000"/>
          </a:xfrm>
          <a:prstGeom prst="roundRect">
            <a:avLst>
              <a:gd name="adj" fmla="val 8000"/>
            </a:avLst>
          </a:prstGeom>
          <a:solidFill>
            <a:srgbClr val="E8F3FC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0" y="1417320"/>
            <a:ext cx="20116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100" b="0">
                <a:solidFill>
                  <a:srgbClr val="5A6E84"/>
                </a:solidFill>
                <a:latin typeface="Calibri"/>
                <a:ea typeface="Calibri"/>
                <a:cs typeface="Calibri"/>
              </a:rPr>
              <a:t>Габарит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96912" y="1737360"/>
            <a:ext cx="2048256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3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56,5 × 53,7 × 129 см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55480" y="1280160"/>
            <a:ext cx="2194560" cy="1143000"/>
          </a:xfrm>
          <a:prstGeom prst="roundRect">
            <a:avLst>
              <a:gd name="adj" fmla="val 8000"/>
            </a:avLst>
          </a:prstGeom>
          <a:solidFill>
            <a:srgbClr val="E8F3FC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46920" y="1417320"/>
            <a:ext cx="20116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100" b="0">
                <a:solidFill>
                  <a:srgbClr val="5A6E84"/>
                </a:solidFill>
                <a:latin typeface="Calibri"/>
                <a:ea typeface="Calibri"/>
                <a:cs typeface="Calibri"/>
              </a:rPr>
              <a:t>Вес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28632" y="1737360"/>
            <a:ext cx="2048256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3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55 кг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23760" y="2542032"/>
            <a:ext cx="2194560" cy="1143000"/>
          </a:xfrm>
          <a:prstGeom prst="roundRect">
            <a:avLst>
              <a:gd name="adj" fmla="val 8000"/>
            </a:avLst>
          </a:prstGeom>
          <a:solidFill>
            <a:srgbClr val="E8F3FC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0" y="2679192"/>
            <a:ext cx="20116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100" b="0">
                <a:solidFill>
                  <a:srgbClr val="5A6E84"/>
                </a:solidFill>
                <a:latin typeface="Calibri"/>
                <a:ea typeface="Calibri"/>
                <a:cs typeface="Calibri"/>
              </a:rPr>
              <a:t>Нагрузка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96912" y="2999232"/>
            <a:ext cx="2048256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3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40 кг (10 кг / полка)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555480" y="2542032"/>
            <a:ext cx="2194560" cy="1143000"/>
          </a:xfrm>
          <a:prstGeom prst="roundRect">
            <a:avLst>
              <a:gd name="adj" fmla="val 8000"/>
            </a:avLst>
          </a:prstGeom>
          <a:solidFill>
            <a:srgbClr val="E8F3FC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46920" y="2679192"/>
            <a:ext cx="20116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100" b="0">
                <a:solidFill>
                  <a:srgbClr val="5A6E84"/>
                </a:solidFill>
                <a:latin typeface="Calibri"/>
                <a:ea typeface="Calibri"/>
                <a:cs typeface="Calibri"/>
              </a:rPr>
              <a:t>Полка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28632" y="2999232"/>
            <a:ext cx="2048256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3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41 × 50 см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23760" y="3803904"/>
            <a:ext cx="2194560" cy="1143000"/>
          </a:xfrm>
          <a:prstGeom prst="roundRect">
            <a:avLst>
              <a:gd name="adj" fmla="val 8000"/>
            </a:avLst>
          </a:prstGeom>
          <a:solidFill>
            <a:srgbClr val="E8F3FC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0" y="3941064"/>
            <a:ext cx="20116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100" b="0">
                <a:solidFill>
                  <a:srgbClr val="5A6E84"/>
                </a:solidFill>
                <a:latin typeface="Calibri"/>
                <a:ea typeface="Calibri"/>
                <a:cs typeface="Calibri"/>
              </a:rPr>
              <a:t>Батарея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96912" y="4261104"/>
            <a:ext cx="2048256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3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13 ч (без нагрузки)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555480" y="3803904"/>
            <a:ext cx="2194560" cy="1143000"/>
          </a:xfrm>
          <a:prstGeom prst="roundRect">
            <a:avLst>
              <a:gd name="adj" fmla="val 8000"/>
            </a:avLst>
          </a:prstGeom>
          <a:solidFill>
            <a:srgbClr val="E8F3FC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46920" y="3941064"/>
            <a:ext cx="20116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100" b="0">
                <a:solidFill>
                  <a:srgbClr val="5A6E84"/>
                </a:solidFill>
                <a:latin typeface="Calibri"/>
                <a:ea typeface="Calibri"/>
                <a:cs typeface="Calibri"/>
              </a:rPr>
              <a:t>Заряд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28632" y="4261104"/>
            <a:ext cx="2048256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3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4,5 ч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223760" y="5065776"/>
            <a:ext cx="2194560" cy="1143000"/>
          </a:xfrm>
          <a:prstGeom prst="roundRect">
            <a:avLst>
              <a:gd name="adj" fmla="val 8000"/>
            </a:avLst>
          </a:prstGeom>
          <a:solidFill>
            <a:srgbClr val="E8F3FC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0" y="5202936"/>
            <a:ext cx="20116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100" b="0">
                <a:solidFill>
                  <a:srgbClr val="5A6E84"/>
                </a:solidFill>
                <a:latin typeface="Calibri"/>
                <a:ea typeface="Calibri"/>
                <a:cs typeface="Calibri"/>
              </a:rPr>
              <a:t>Уклон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96912" y="5522976"/>
            <a:ext cx="2048256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3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≤ 5°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555480" y="5065776"/>
            <a:ext cx="2194560" cy="1143000"/>
          </a:xfrm>
          <a:prstGeom prst="roundRect">
            <a:avLst>
              <a:gd name="adj" fmla="val 8000"/>
            </a:avLst>
          </a:prstGeom>
          <a:solidFill>
            <a:srgbClr val="E8F3FC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46920" y="5202936"/>
            <a:ext cx="20116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100" b="0">
                <a:solidFill>
                  <a:srgbClr val="5A6E84"/>
                </a:solidFill>
                <a:latin typeface="Calibri"/>
                <a:ea typeface="Calibri"/>
                <a:cs typeface="Calibri"/>
              </a:rPr>
              <a:t>Навигация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28632" y="5522976"/>
            <a:ext cx="2048256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3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Dual SLAM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6B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B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STARLAB  ·  Robotics Solutions Partner  ·  starlab.uz  ·  +998 71 200 19 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656832"/>
            <a:ext cx="155448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01168"/>
            <a:ext cx="1133856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>
                <a:solidFill>
                  <a:srgbClr val="1A6BB5"/>
                </a:solidFill>
                <a:latin typeface="Calibri"/>
                <a:ea typeface="Calibri"/>
                <a:cs typeface="Calibri"/>
              </a:rPr>
              <a:t>МОДЕЛЬ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20624"/>
            <a:ext cx="11338560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PuduBot 2 и KettyBot — поток и маркетинг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325880"/>
            <a:ext cx="5623560" cy="4937760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453896"/>
            <a:ext cx="5294376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0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PuduBot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1801368"/>
            <a:ext cx="5294376" cy="4352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Универсальный доставщик: еда, напитки, документы, мелкий груз. Стандарт 3 полки, до 7. VSLAM+ и 2 LiDAR. Надёжная «грузовая» платформа кухня–зал.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325880"/>
            <a:ext cx="5623560" cy="4937760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36792" y="1453896"/>
            <a:ext cx="5294376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0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KettyBot Pro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36792" y="1801368"/>
            <a:ext cx="5294376" cy="4352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Для узких кафе: проход 52–55 см. Экран 18,5" — меню, акции, бренд. Проводит гостя к столу, в круизе развозит закуски. 2 полки, 30 кг.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6B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B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STARLAB  ·  Robotics Solutions Partner  ·  starlab.uz  ·  +998 71 200 19 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656832"/>
            <a:ext cx="155448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01168"/>
            <a:ext cx="1133856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>
                <a:solidFill>
                  <a:srgbClr val="1A6BB5"/>
                </a:solidFill>
                <a:latin typeface="Calibri"/>
                <a:ea typeface="Calibri"/>
                <a:cs typeface="Calibri"/>
              </a:rPr>
              <a:t>МОДЕЛЬ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20624"/>
            <a:ext cx="11338560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HolaBot и CC1 Pro — снимаем тяжёлую рутину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325880"/>
            <a:ext cx="5623560" cy="4937760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453896"/>
            <a:ext cx="5294376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0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HolaBot — сбор посуды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1801368"/>
            <a:ext cx="5294376" cy="4352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Закрытые отсеки, до 60 кг. Официант нажимает кнопку — робот увозит посуду. Меньше шума и проливов, зал выглядит чище в пик.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325880"/>
            <a:ext cx="5623560" cy="4937760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36792" y="1453896"/>
            <a:ext cx="5294376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0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CC1 Pro — клининг 4-в-1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36792" y="1801368"/>
            <a:ext cx="5294376" cy="4352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Подметание, мойка, вакуум и сухая протирка. VSLAM+ + LiDAR. Холл, проходы, зона у кухни. Персонал возвращается к гостю.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6B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B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STARLAB  ·  Robotics Solutions Partner  ·  starlab.uz  ·  +998 71 200 19 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656832"/>
            <a:ext cx="155448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01168"/>
            <a:ext cx="1133856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>
                <a:solidFill>
                  <a:srgbClr val="1A6BB5"/>
                </a:solidFill>
                <a:latin typeface="Calibri"/>
                <a:ea typeface="Calibri"/>
                <a:cs typeface="Calibri"/>
              </a:rPr>
              <a:t>СРАВНЕНИЕ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20624"/>
            <a:ext cx="11338560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Какой робот под какую задачу?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325880"/>
            <a:ext cx="1920240" cy="713232"/>
          </a:xfrm>
          <a:prstGeom prst="rect">
            <a:avLst/>
          </a:prstGeom>
          <a:solidFill>
            <a:srgbClr val="0B3A6A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0624" y="1490472"/>
            <a:ext cx="1828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Модель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86000" y="1325880"/>
            <a:ext cx="2331720" cy="713232"/>
          </a:xfrm>
          <a:prstGeom prst="rect">
            <a:avLst/>
          </a:prstGeom>
          <a:solidFill>
            <a:srgbClr val="0B3A6A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40864" y="1490472"/>
            <a:ext cx="22402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Задача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17720" y="1325880"/>
            <a:ext cx="1554480" cy="713232"/>
          </a:xfrm>
          <a:prstGeom prst="rect">
            <a:avLst/>
          </a:prstGeom>
          <a:solidFill>
            <a:srgbClr val="0B3A6A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72584" y="1490472"/>
            <a:ext cx="14630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Нагрузка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1325880"/>
            <a:ext cx="2286000" cy="713232"/>
          </a:xfrm>
          <a:prstGeom prst="rect">
            <a:avLst/>
          </a:prstGeom>
          <a:solidFill>
            <a:srgbClr val="0B3A6A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27064" y="1490472"/>
            <a:ext cx="21945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Полки / отсеки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58200" y="1325880"/>
            <a:ext cx="1691640" cy="713232"/>
          </a:xfrm>
          <a:prstGeom prst="rect">
            <a:avLst/>
          </a:prstGeom>
          <a:solidFill>
            <a:srgbClr val="0B3A6A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13064" y="1490472"/>
            <a:ext cx="1600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Проход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149840" y="1325880"/>
            <a:ext cx="1645920" cy="713232"/>
          </a:xfrm>
          <a:prstGeom prst="rect">
            <a:avLst/>
          </a:prstGeom>
          <a:solidFill>
            <a:srgbClr val="0B3A6A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04704" y="1490472"/>
            <a:ext cx="15544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Смена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039112"/>
            <a:ext cx="1920240" cy="713232"/>
          </a:xfrm>
          <a:prstGeom prst="rect">
            <a:avLst/>
          </a:prstGeom>
          <a:solidFill>
            <a:srgbClr val="E8F3FC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0624" y="2203704"/>
            <a:ext cx="1828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BellaBot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286000" y="2039112"/>
            <a:ext cx="2331720" cy="713232"/>
          </a:xfrm>
          <a:prstGeom prst="rect">
            <a:avLst/>
          </a:prstGeom>
          <a:solidFill>
            <a:srgbClr val="E8F3FC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340864" y="2203704"/>
            <a:ext cx="22402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Доставка, WOW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617720" y="2039112"/>
            <a:ext cx="1554480" cy="713232"/>
          </a:xfrm>
          <a:prstGeom prst="rect">
            <a:avLst/>
          </a:prstGeom>
          <a:solidFill>
            <a:srgbClr val="E8F3FC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72584" y="2203704"/>
            <a:ext cx="14630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40 кг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72200" y="2039112"/>
            <a:ext cx="2286000" cy="713232"/>
          </a:xfrm>
          <a:prstGeom prst="rect">
            <a:avLst/>
          </a:prstGeom>
          <a:solidFill>
            <a:srgbClr val="E8F3FC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27064" y="2203704"/>
            <a:ext cx="21945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4 открытые полки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458200" y="2039112"/>
            <a:ext cx="1691640" cy="713232"/>
          </a:xfrm>
          <a:prstGeom prst="rect">
            <a:avLst/>
          </a:prstGeom>
          <a:solidFill>
            <a:srgbClr val="E8F3FC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13064" y="2203704"/>
            <a:ext cx="1600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~65 см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149840" y="2039112"/>
            <a:ext cx="1645920" cy="713232"/>
          </a:xfrm>
          <a:prstGeom prst="rect">
            <a:avLst/>
          </a:prstGeom>
          <a:solidFill>
            <a:srgbClr val="E8F3FC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04704" y="2203704"/>
            <a:ext cx="15544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13+ ч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752344"/>
            <a:ext cx="19202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0624" y="2916936"/>
            <a:ext cx="1828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PuduBot 2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286000" y="2752344"/>
            <a:ext cx="23317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340864" y="2916936"/>
            <a:ext cx="22402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Универсальная доставка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617720" y="2752344"/>
            <a:ext cx="155448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672584" y="2916936"/>
            <a:ext cx="14630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40 кг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172200" y="2752344"/>
            <a:ext cx="22860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27064" y="2916936"/>
            <a:ext cx="21945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3–7 полок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458200" y="2752344"/>
            <a:ext cx="16916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513064" y="2916936"/>
            <a:ext cx="1600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средний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149840" y="2752344"/>
            <a:ext cx="16459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204704" y="2916936"/>
            <a:ext cx="15544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длинная смена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465576"/>
            <a:ext cx="1920240" cy="713232"/>
          </a:xfrm>
          <a:prstGeom prst="rect">
            <a:avLst/>
          </a:prstGeom>
          <a:solidFill>
            <a:srgbClr val="E8F3FC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20624" y="3630168"/>
            <a:ext cx="1828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KettyBot Pro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286000" y="3465576"/>
            <a:ext cx="2331720" cy="713232"/>
          </a:xfrm>
          <a:prstGeom prst="rect">
            <a:avLst/>
          </a:prstGeom>
          <a:solidFill>
            <a:srgbClr val="E8F3FC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340864" y="3630168"/>
            <a:ext cx="22402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Встреча + реклама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617720" y="3465576"/>
            <a:ext cx="1554480" cy="713232"/>
          </a:xfrm>
          <a:prstGeom prst="rect">
            <a:avLst/>
          </a:prstGeom>
          <a:solidFill>
            <a:srgbClr val="E8F3FC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672584" y="3630168"/>
            <a:ext cx="14630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30 кг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172200" y="3465576"/>
            <a:ext cx="2286000" cy="713232"/>
          </a:xfrm>
          <a:prstGeom prst="rect">
            <a:avLst/>
          </a:prstGeom>
          <a:solidFill>
            <a:srgbClr val="E8F3FC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227064" y="3630168"/>
            <a:ext cx="21945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2 полки + экран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458200" y="3465576"/>
            <a:ext cx="1691640" cy="713232"/>
          </a:xfrm>
          <a:prstGeom prst="rect">
            <a:avLst/>
          </a:prstGeom>
          <a:solidFill>
            <a:srgbClr val="E8F3FC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513064" y="3630168"/>
            <a:ext cx="1600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52–55 см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0149840" y="3465576"/>
            <a:ext cx="1645920" cy="713232"/>
          </a:xfrm>
          <a:prstGeom prst="rect">
            <a:avLst/>
          </a:prstGeom>
          <a:solidFill>
            <a:srgbClr val="E8F3FC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204704" y="3630168"/>
            <a:ext cx="15544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8–12 ч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65760" y="4178808"/>
            <a:ext cx="19202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20624" y="4343400"/>
            <a:ext cx="1828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HolaBot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286000" y="4178808"/>
            <a:ext cx="23317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340864" y="4343400"/>
            <a:ext cx="22402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Сбор посуды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617720" y="4178808"/>
            <a:ext cx="155448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672584" y="4343400"/>
            <a:ext cx="14630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60 кг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172200" y="4178808"/>
            <a:ext cx="22860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227064" y="4343400"/>
            <a:ext cx="21945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закрытые отсеки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458200" y="4178808"/>
            <a:ext cx="16916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513064" y="4343400"/>
            <a:ext cx="1600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зал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0149840" y="4178808"/>
            <a:ext cx="16459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0204704" y="4343400"/>
            <a:ext cx="15544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8–10 ч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65760" y="4892040"/>
            <a:ext cx="1920240" cy="713232"/>
          </a:xfrm>
          <a:prstGeom prst="rect">
            <a:avLst/>
          </a:prstGeom>
          <a:solidFill>
            <a:srgbClr val="E8F3FC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20624" y="5056632"/>
            <a:ext cx="1828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CC1 Pro</a:t>
            </a:r>
          </a:p>
        </p:txBody>
      </p:sp>
      <p:sp>
        <p:nvSpPr>
          <p:cNvPr id="71" name="Rectangle 70"/>
          <p:cNvSpPr/>
          <p:nvPr/>
        </p:nvSpPr>
        <p:spPr>
          <a:xfrm>
            <a:off x="2286000" y="4892040"/>
            <a:ext cx="2331720" cy="713232"/>
          </a:xfrm>
          <a:prstGeom prst="rect">
            <a:avLst/>
          </a:prstGeom>
          <a:solidFill>
            <a:srgbClr val="E8F3FC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340864" y="5056632"/>
            <a:ext cx="22402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Уборка пола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617720" y="4892040"/>
            <a:ext cx="1554480" cy="713232"/>
          </a:xfrm>
          <a:prstGeom prst="rect">
            <a:avLst/>
          </a:prstGeom>
          <a:solidFill>
            <a:srgbClr val="E8F3FC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672584" y="5056632"/>
            <a:ext cx="14630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клининг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172200" y="4892040"/>
            <a:ext cx="2286000" cy="713232"/>
          </a:xfrm>
          <a:prstGeom prst="rect">
            <a:avLst/>
          </a:prstGeom>
          <a:solidFill>
            <a:srgbClr val="E8F3FC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227064" y="5056632"/>
            <a:ext cx="21945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4-в-1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458200" y="4892040"/>
            <a:ext cx="1691640" cy="713232"/>
          </a:xfrm>
          <a:prstGeom prst="rect">
            <a:avLst/>
          </a:prstGeom>
          <a:solidFill>
            <a:srgbClr val="E8F3FC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513064" y="5056632"/>
            <a:ext cx="1600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холл/проход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0149840" y="4892040"/>
            <a:ext cx="1645920" cy="713232"/>
          </a:xfrm>
          <a:prstGeom prst="rect">
            <a:avLst/>
          </a:prstGeom>
          <a:solidFill>
            <a:srgbClr val="E8F3FC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0204704" y="5056632"/>
            <a:ext cx="15544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9 ч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6B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B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STARLAB  ·  Robotics Solutions Partner  ·  starlab.uz  ·  +998 71 200 19 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656832"/>
            <a:ext cx="155448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01168"/>
            <a:ext cx="1133856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>
                <a:solidFill>
                  <a:srgbClr val="1A6BB5"/>
                </a:solidFill>
                <a:latin typeface="Calibri"/>
                <a:ea typeface="Calibri"/>
                <a:cs typeface="Calibri"/>
              </a:rPr>
              <a:t>ВЫГОДА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20624"/>
            <a:ext cx="11338560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Что получает ресторан?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280160"/>
            <a:ext cx="3730752" cy="2331720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408176"/>
            <a:ext cx="3401568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Быстрее сервис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1755648"/>
            <a:ext cx="3401568" cy="1746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Несколько столов за один рейс. В пике доставка быстрее на 30–40% — мировая практика.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60" y="1280160"/>
            <a:ext cx="3730752" cy="2331720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16552" y="1408176"/>
            <a:ext cx="3401568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Официант у гостя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16552" y="1755648"/>
            <a:ext cx="3401568" cy="1746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Не разнос, а продажи и гостеприимство. Растут upsell и чаевые.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1280160"/>
            <a:ext cx="3730752" cy="2331720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02752" y="1408176"/>
            <a:ext cx="3401568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Стабильное качество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02752" y="1755648"/>
            <a:ext cx="3401568" cy="1746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Робот не устаёт и не путает стол — одинаков в начале и в конце смены.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3794760"/>
            <a:ext cx="3730752" cy="2331720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0352" y="3922776"/>
            <a:ext cx="3401568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Опыт гостя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" y="4270248"/>
            <a:ext cx="3401568" cy="1746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Мордочка BellaBot, голос и свет — магнит для семей. Контент расходится сам.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51960" y="3794760"/>
            <a:ext cx="3730752" cy="2331720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16552" y="3922776"/>
            <a:ext cx="3401568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Меньше кадрового риска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16552" y="4270248"/>
            <a:ext cx="3401568" cy="1746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Один человек на больничном — зал не встаёт. Базовую нагрузку держит робот.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38160" y="3794760"/>
            <a:ext cx="3730752" cy="2331720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02752" y="3922776"/>
            <a:ext cx="3401568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Чистый зал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02752" y="4270248"/>
            <a:ext cx="3401568" cy="1746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Посуда уходит быстрее, пол в стандарте чистоты ночью и утром.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6B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B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STARLAB  ·  Robotics Solutions Partner  ·  starlab.uz  ·  +998 71 200 19 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656832"/>
            <a:ext cx="155448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01168"/>
            <a:ext cx="1133856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>
                <a:solidFill>
                  <a:srgbClr val="1A6BB5"/>
                </a:solidFill>
                <a:latin typeface="Calibri"/>
                <a:ea typeface="Calibri"/>
                <a:cs typeface="Calibri"/>
              </a:rPr>
              <a:t>ЭКОНОМИКА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20624"/>
            <a:ext cx="11338560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Как окупается: логика, не демо-цифры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841248"/>
            <a:ext cx="11338560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>
                <a:solidFill>
                  <a:srgbClr val="5A6E84"/>
                </a:solidFill>
                <a:latin typeface="Calibri"/>
                <a:ea typeface="Calibri"/>
                <a:cs typeface="Calibri"/>
              </a:rPr>
              <a:t>Точный ROI считается после карты объекта и пилотной смены. Ниже — логика решения.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417320"/>
            <a:ext cx="2788920" cy="4846320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1545336"/>
            <a:ext cx="2459736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Снижение затрат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1892808"/>
            <a:ext cx="2459736" cy="4261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Повторяющиеся рейсы доставки и сбора. Меньше нужды в дополнительной смене на пике.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10128" y="1417320"/>
            <a:ext cx="2788920" cy="4846320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720" y="1545336"/>
            <a:ext cx="2459736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Рост выручки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1892808"/>
            <a:ext cx="2459736" cy="4261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Стол освобождается быстрее. Гость не ждёт — возвращается. Робот сам делает маркетинг.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54496" y="1417320"/>
            <a:ext cx="2788920" cy="4846320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9088" y="1545336"/>
            <a:ext cx="2459736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Дешевле ошибки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9088" y="1892808"/>
            <a:ext cx="2459736" cy="4261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Меньше неверных столов, проливов и компенсаций, меньше негативных отзывов.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98864" y="1417320"/>
            <a:ext cx="2788920" cy="4846320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63456" y="1545336"/>
            <a:ext cx="2459736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Управление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63456" y="1892808"/>
            <a:ext cx="2459736" cy="4261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Дашборд: рейсы, узкие зоны, пик. Решения по данным, не по ощущению.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6B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B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STARLAB  ·  Robotics Solutions Partner  ·  starlab.uz  ·  +998 71 200 19 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656832"/>
            <a:ext cx="155448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01168"/>
            <a:ext cx="1133856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>
                <a:solidFill>
                  <a:srgbClr val="1A6BB5"/>
                </a:solidFill>
                <a:latin typeface="Calibri"/>
                <a:ea typeface="Calibri"/>
                <a:cs typeface="Calibri"/>
              </a:rPr>
              <a:t>ВНЕДРЕНИЕ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20624"/>
            <a:ext cx="11338560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4 шага: от пилота к смене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417320"/>
            <a:ext cx="2788920" cy="4846320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645920"/>
            <a:ext cx="242316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3200" b="1">
                <a:solidFill>
                  <a:srgbClr val="1A6BB5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331720"/>
            <a:ext cx="25146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8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Аудит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3063240"/>
            <a:ext cx="246888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Зал, путь кухни, Wi-Fi, пандус, самый узкий проход, сценарий пика.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71800" y="3291840"/>
            <a:ext cx="3657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200" b="1">
                <a:solidFill>
                  <a:srgbClr val="1A6BB5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10128" y="1417320"/>
            <a:ext cx="2788920" cy="4846320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93008" y="1645920"/>
            <a:ext cx="242316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3200" b="1">
                <a:solidFill>
                  <a:srgbClr val="1A6BB5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47288" y="2331720"/>
            <a:ext cx="25146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8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Пилот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3063240"/>
            <a:ext cx="246888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1 робот в вашем зале. Карта, обучение, замер 7–14 дней.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16168" y="3291840"/>
            <a:ext cx="3657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200" b="1">
                <a:solidFill>
                  <a:srgbClr val="1A6BB5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54496" y="1417320"/>
            <a:ext cx="2788920" cy="4846320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37376" y="1645920"/>
            <a:ext cx="242316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3200" b="1">
                <a:solidFill>
                  <a:srgbClr val="1A6BB5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1656" y="2331720"/>
            <a:ext cx="25146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8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Настройка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19088" y="3063240"/>
            <a:ext cx="246888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Кнопки вызова, экран-меню, голос бренда, регламент персонала.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60536" y="3291840"/>
            <a:ext cx="3657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200" b="1">
                <a:solidFill>
                  <a:srgbClr val="1A6BB5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98864" y="1417320"/>
            <a:ext cx="2788920" cy="4846320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81744" y="1645920"/>
            <a:ext cx="242316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3200" b="1">
                <a:solidFill>
                  <a:srgbClr val="1A6BB5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36024" y="2331720"/>
            <a:ext cx="25146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8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Сервис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63456" y="3063240"/>
            <a:ext cx="246888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Гарантия, ТО, ЗИП, обучение новых смен.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6B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B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STARLAB  ·  Robotics Solutions Partner  ·  starlab.uz  ·  +998 71 200 19 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656832"/>
            <a:ext cx="155448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01168"/>
            <a:ext cx="1133856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>
                <a:solidFill>
                  <a:srgbClr val="1A6BB5"/>
                </a:solidFill>
                <a:latin typeface="Calibri"/>
                <a:ea typeface="Calibri"/>
                <a:cs typeface="Calibri"/>
              </a:rPr>
              <a:t>БЕЗОПАСНОСТЬ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20624"/>
            <a:ext cx="11338560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Безопасно рядом с гостем и персоналом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325880"/>
            <a:ext cx="11338560" cy="4983480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0020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▸  LiDAR + камеры: человек, ножка стула, сумка — останавливается и объезжает.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▸  Скорость под зал. Сценарии с детьми и колясками отрабатываем на обучении.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▸  Закрытые отсеки (HolaBot / тип FlashBot) — горячее и приватная доставка.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▸  Автозаряд: при низком заряде сам уходит на станцию.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▸  Флот: планировщик исключает столкновения роботов.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6B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B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STARLAB  ·  Robotics Solutions Partner  ·  starlab.uz  ·  +998 71 200 19 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656832"/>
            <a:ext cx="155448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01168"/>
            <a:ext cx="1133856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>
                <a:solidFill>
                  <a:srgbClr val="1A6BB5"/>
                </a:solidFill>
                <a:latin typeface="Calibri"/>
                <a:ea typeface="Calibri"/>
                <a:cs typeface="Calibri"/>
              </a:rPr>
              <a:t>КОНКУРЕНТЫ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20624"/>
            <a:ext cx="11338560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Почему эта линейка?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280160"/>
            <a:ext cx="11338560" cy="1143000"/>
          </a:xfrm>
          <a:prstGeom prst="roundRect">
            <a:avLst>
              <a:gd name="adj" fmla="val 8000"/>
            </a:avLst>
          </a:prstGeom>
          <a:solidFill>
            <a:srgbClr val="E8F3FC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417320"/>
            <a:ext cx="2377440" cy="8686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PUDU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1481328"/>
            <a:ext cx="8321040" cy="7772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100 000+ роботов, 80+ стран. BellaBot — самое узнаваемое «лицо» ресторанного сегмента.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2542032"/>
            <a:ext cx="11338560" cy="1143000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679192"/>
            <a:ext cx="2377440" cy="8686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KEENON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2743200"/>
            <a:ext cx="8321040" cy="7772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T8/T9/T10 — узкий зал и высокая нагрузка. Hilton, Shangri-La, сети фастфуда.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803904"/>
            <a:ext cx="11338560" cy="1143000"/>
          </a:xfrm>
          <a:prstGeom prst="roundRect">
            <a:avLst>
              <a:gd name="adj" fmla="val 8000"/>
            </a:avLst>
          </a:prstGeom>
          <a:solidFill>
            <a:srgbClr val="E8F3FC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941064"/>
            <a:ext cx="2377440" cy="8686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Bear / OrionStar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08960" y="4005072"/>
            <a:ext cx="8321040" cy="7772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Сервисные роботы США и Азии — берём лучшие сценарии UX и внедряем у вас.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5065776"/>
            <a:ext cx="11338560" cy="1143000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202936"/>
            <a:ext cx="2377440" cy="8686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Отличие STARLAB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08960" y="5266944"/>
            <a:ext cx="8321040" cy="7772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Опыт IT, лицензий и AI + локальный сервис. Робот стыкуется с вашей инфраструктурой.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6B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B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STARLAB  ·  Robotics Solutions Partner  ·  starlab.uz  ·  +998 71 200 19 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656832"/>
            <a:ext cx="155448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01168"/>
            <a:ext cx="1133856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>
                <a:solidFill>
                  <a:srgbClr val="1A6BB5"/>
                </a:solidFill>
                <a:latin typeface="Calibri"/>
                <a:ea typeface="Calibri"/>
                <a:cs typeface="Calibri"/>
              </a:rPr>
              <a:t>ПАКЕТ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20624"/>
            <a:ext cx="11338560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Что вы получаете?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280160"/>
            <a:ext cx="2718739" cy="1051560"/>
          </a:xfrm>
          <a:prstGeom prst="roundRect">
            <a:avLst>
              <a:gd name="adj" fmla="val 8000"/>
            </a:avLst>
          </a:prstGeom>
          <a:solidFill>
            <a:srgbClr val="E8F3FC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389888"/>
            <a:ext cx="2718739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2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1 год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" y="1810512"/>
            <a:ext cx="2572435" cy="438912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5A6E84"/>
                </a:solidFill>
                <a:latin typeface="Calibri"/>
                <a:ea typeface="Calibri"/>
                <a:cs typeface="Calibri"/>
              </a:rPr>
              <a:t>гарантия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4811" y="1280160"/>
            <a:ext cx="2718739" cy="1051560"/>
          </a:xfrm>
          <a:prstGeom prst="roundRect">
            <a:avLst>
              <a:gd name="adj" fmla="val 8000"/>
            </a:avLst>
          </a:prstGeom>
          <a:solidFill>
            <a:srgbClr val="E8F3FC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94811" y="1389888"/>
            <a:ext cx="2718739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2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24/7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67963" y="1810512"/>
            <a:ext cx="2572435" cy="438912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5A6E84"/>
                </a:solidFill>
                <a:latin typeface="Calibri"/>
                <a:ea typeface="Calibri"/>
                <a:cs typeface="Calibri"/>
              </a:rPr>
              <a:t>сервис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8143" y="1280160"/>
            <a:ext cx="2718739" cy="1051560"/>
          </a:xfrm>
          <a:prstGeom prst="roundRect">
            <a:avLst>
              <a:gd name="adj" fmla="val 8000"/>
            </a:avLst>
          </a:prstGeom>
          <a:solidFill>
            <a:srgbClr val="E8F3FC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78143" y="1389888"/>
            <a:ext cx="2718739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2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PUDU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51295" y="1810512"/>
            <a:ext cx="2572435" cy="438912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5A6E84"/>
                </a:solidFill>
                <a:latin typeface="Calibri"/>
                <a:ea typeface="Calibri"/>
                <a:cs typeface="Calibri"/>
              </a:rPr>
              <a:t>STARLAB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61475" y="1280160"/>
            <a:ext cx="2718739" cy="1051560"/>
          </a:xfrm>
          <a:prstGeom prst="roundRect">
            <a:avLst>
              <a:gd name="adj" fmla="val 8000"/>
            </a:avLst>
          </a:prstGeom>
          <a:solidFill>
            <a:srgbClr val="E8F3FC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61475" y="1389888"/>
            <a:ext cx="2718739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2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Robosant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34627" y="1810512"/>
            <a:ext cx="2572435" cy="438912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5A6E84"/>
                </a:solidFill>
                <a:latin typeface="Calibri"/>
                <a:ea typeface="Calibri"/>
                <a:cs typeface="Calibri"/>
              </a:rPr>
              <a:t>бренд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2560320"/>
            <a:ext cx="11338560" cy="3749039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2788920"/>
            <a:ext cx="106984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▸  Робот + зарядная станция + базовые аксессуары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▸  Карта объекта и настройка навигации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▸  Обучение персонала (зал + кухня, 1–2 смены)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▸  Сценарий гостя: голос, экран, имя бренда Robosant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▸  1 год гарантии и локальная техподдержка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▸  Масштаб: 2-й робот, клининг, гостиничная линейка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6B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B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Следующий шаг — 30-минутное демо в вашем зале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0">
                <a:solidFill>
                  <a:srgbClr val="5A6E84"/>
                </a:solidFill>
                <a:latin typeface="Calibri"/>
                <a:ea typeface="Calibri"/>
                <a:cs typeface="Calibri"/>
              </a:rPr>
              <a:t>Смотрим карту, проход робота и закрываем вопрос пикового часа вместе.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743200"/>
            <a:ext cx="2697480" cy="1234440"/>
          </a:xfrm>
          <a:prstGeom prst="roundRect">
            <a:avLst>
              <a:gd name="adj" fmla="val 8000"/>
            </a:avLst>
          </a:prstGeom>
          <a:solidFill>
            <a:srgbClr val="E8F3FC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25146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+998 71 200 19 99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2743200"/>
            <a:ext cx="2697480" cy="1234440"/>
          </a:xfrm>
          <a:prstGeom prst="roundRect">
            <a:avLst>
              <a:gd name="adj" fmla="val 8000"/>
            </a:avLst>
          </a:prstGeom>
          <a:solidFill>
            <a:srgbClr val="E8F3FC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66160" y="3108960"/>
            <a:ext cx="25146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info@starlab.uz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2743200"/>
            <a:ext cx="2697480" cy="1234440"/>
          </a:xfrm>
          <a:prstGeom prst="roundRect">
            <a:avLst>
              <a:gd name="adj" fmla="val 8000"/>
            </a:avLst>
          </a:prstGeom>
          <a:solidFill>
            <a:srgbClr val="E8F3FC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3108960"/>
            <a:ext cx="25146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starlab.uz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0" y="2743200"/>
            <a:ext cx="2697480" cy="1234440"/>
          </a:xfrm>
          <a:prstGeom prst="roundRect">
            <a:avLst>
              <a:gd name="adj" fmla="val 8000"/>
            </a:avLst>
          </a:prstGeom>
          <a:solidFill>
            <a:srgbClr val="E8F3FC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0" y="3108960"/>
            <a:ext cx="25146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Ташкент, Чиланзар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297680"/>
            <a:ext cx="10972800" cy="1051560"/>
          </a:xfrm>
          <a:prstGeom prst="roundRect">
            <a:avLst>
              <a:gd name="adj" fmla="val 8000"/>
            </a:avLst>
          </a:prstGeom>
          <a:solidFill>
            <a:srgbClr val="0B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572000"/>
            <a:ext cx="109728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Запросите демо и коммерческое предложение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760720"/>
            <a:ext cx="10972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>
                <a:solidFill>
                  <a:srgbClr val="5A6E84"/>
                </a:solidFill>
                <a:latin typeface="Calibri"/>
                <a:ea typeface="Calibri"/>
                <a:cs typeface="Calibri"/>
              </a:rPr>
              <a:t>STARLAB  ·  Robotics Solutions Partner  ·  starlab.uz  ·  +998 71 200 19 99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