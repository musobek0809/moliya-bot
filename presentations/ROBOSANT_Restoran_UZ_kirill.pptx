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18120" y="0"/>
            <a:ext cx="4379976" cy="5989320"/>
          </a:xfrm>
          <a:prstGeom prst="rect">
            <a:avLst/>
          </a:prstGeom>
          <a:solidFill>
            <a:srgbClr val="E8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320040"/>
            <a:ext cx="4533900" cy="5440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11480"/>
            <a:ext cx="6949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RESTORANLAR УЧУН СОТУВ ПРЕЗЕНТАЦИЯСИ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69494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ROBOSANT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69494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Ресторанингизда сервис роботлари — етказиб бериш, идиш йиғиш ва тозалаш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80360"/>
            <a:ext cx="6949440" cy="86868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99232"/>
            <a:ext cx="66751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Биз оддий импортёр эмасмиз. Биз — Robotics Solutions Partner.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86200"/>
            <a:ext cx="694944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«Сиз технологияни ўз ресторанингизда синаб, унинг бизнесингизга реал фойдасини кўрасиз.»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2648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    ·    Robotics Solutions Partner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БОЗОР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Ресторанлар нимадан йўқотишмоқда?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41248"/>
            <a:ext cx="11338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Ходим етишмаслиги, пик-соатлар ва ностандарт сервис — маржани еяди.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25880"/>
            <a:ext cx="5623560" cy="217627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453896"/>
            <a:ext cx="52943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Пик-соатда секинлик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801368"/>
            <a:ext cx="529437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Ошхона тайёр, зал эса кутяпти. Столлик айланиши пасайиб, ҳисоб камаяди.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623560" cy="217627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453896"/>
            <a:ext cx="52943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Кадрлар харажати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801368"/>
            <a:ext cx="529437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Официант варанка ва идиш ташишга кетади. Меҳмон билан ишлашга вақт қолмайди.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657600"/>
            <a:ext cx="5623560" cy="217627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3785616"/>
            <a:ext cx="52943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Хато ва тўкилиш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4133088"/>
            <a:ext cx="529437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Чарчоқ сменада хатолар кўпаяди: нотўғри стол, совуқ таом, норозилик.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657600"/>
            <a:ext cx="5623560" cy="217627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785616"/>
            <a:ext cx="52943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Рақобатда фарқ йўқ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133088"/>
            <a:ext cx="529437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Меҳмон замонавий сервис ва Instagram-тайёр тажриба кутади.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ЁНДАШУВ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Нега STARLAB сотувчи эмас — ҳамкор?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41248"/>
            <a:ext cx="11338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Роботни «қўйиб кетиш» эмас: объектга мослаш, ўқитиш, сервис ва натижа.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71600"/>
            <a:ext cx="2743200" cy="493776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499616"/>
            <a:ext cx="241401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Ўз ресторанда синов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47088"/>
            <a:ext cx="2414016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Технологияни аввал ўз объектимизда ишлатамиз. Сизга намойиш рақамлар эмас, реал смена тажрибаси келади.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371600"/>
            <a:ext cx="2743200" cy="493776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499616"/>
            <a:ext cx="241401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Ечим, техника эмас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847088"/>
            <a:ext cx="2414016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Моделни танлаш, харита, лифт/Wi-Fi, ходимлар сценарийси — битта лойиҳа сифатида.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1371600"/>
            <a:ext cx="2743200" cy="493776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499616"/>
            <a:ext cx="241401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Маҳаллий сервис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1847088"/>
            <a:ext cx="2414016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Ўзбекистонда ўрнатиш, кафолат, эҳтиёт қисм ва 24/7 қўллаб-қувватлаш.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98864" y="1371600"/>
            <a:ext cx="2743200" cy="493776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3456" y="1499616"/>
            <a:ext cx="241401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Robosant бренди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47088"/>
            <a:ext cx="2414016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Залдаги робот сизнинг сервисингиз юзи. Ном, сценарий ва меҳмон тажрибаси бирга қурилади.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ЛИНИЯ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Ресторан учун роботлар оиласи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41248"/>
            <a:ext cx="11338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Бир бренд остида: етказиб бериш, кутиб олиш, идиш йиғиш, тозалаш.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25880"/>
            <a:ext cx="2174991" cy="50292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325880"/>
            <a:ext cx="2174991" cy="91440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463040"/>
            <a:ext cx="202868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Robosant BellaBot</a:t>
            </a:r>
          </a:p>
        </p:txBody>
      </p:sp>
      <p:pic>
        <p:nvPicPr>
          <p:cNvPr id="13" name="Picture 12" descr="b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57400"/>
            <a:ext cx="1790700" cy="2148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4251960"/>
            <a:ext cx="199211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Таом ва ичимлик етказиш
4 токча · 40 кг
Dual SLAM · 13 соат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87055" y="1325880"/>
            <a:ext cx="2174991" cy="50292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87055" y="1325880"/>
            <a:ext cx="2174991" cy="91440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0207" y="1463040"/>
            <a:ext cx="202868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PuduBot 2</a:t>
            </a:r>
          </a:p>
        </p:txBody>
      </p:sp>
      <p:pic>
        <p:nvPicPr>
          <p:cNvPr id="18" name="Picture 17" descr="pudu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223" y="2057400"/>
            <a:ext cx="1651260" cy="21488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778495" y="4251960"/>
            <a:ext cx="199211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Универсал етказиш
3–7 токча · 40 кг
VSLAM+ ва LiDAR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08351" y="1325880"/>
            <a:ext cx="2174991" cy="50292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08351" y="1325880"/>
            <a:ext cx="2174991" cy="91440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81503" y="1463040"/>
            <a:ext cx="202868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KettyBot Pro</a:t>
            </a:r>
          </a:p>
        </p:txBody>
      </p:sp>
      <p:pic>
        <p:nvPicPr>
          <p:cNvPr id="23" name="Picture 22" descr="ket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9519" y="2057400"/>
            <a:ext cx="1637558" cy="21488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99791" y="4251960"/>
            <a:ext cx="199211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Кутиб олиш + реклама
Экран 18,5" · тора йўлак
Столга кузатиб қўйиш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29647" y="1325880"/>
            <a:ext cx="2174991" cy="50292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9647" y="1325880"/>
            <a:ext cx="2174991" cy="91440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2799" y="1463040"/>
            <a:ext cx="202868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HolaBot</a:t>
            </a:r>
          </a:p>
        </p:txBody>
      </p:sp>
      <p:pic>
        <p:nvPicPr>
          <p:cNvPr id="28" name="Picture 27" descr="hol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0815" y="2057400"/>
            <a:ext cx="1389711" cy="21488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421087" y="4251960"/>
            <a:ext cx="199211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Идиш йиғиш
Ёпиқ бўлинмалар · 60 кг
Чақириш тугмаси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50943" y="1325880"/>
            <a:ext cx="2174991" cy="50292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50943" y="1325880"/>
            <a:ext cx="2174991" cy="91440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24095" y="1463040"/>
            <a:ext cx="2028687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CC1 Pro</a:t>
            </a:r>
          </a:p>
        </p:txBody>
      </p:sp>
      <p:pic>
        <p:nvPicPr>
          <p:cNvPr id="33" name="Picture 32" descr="c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2111" y="2057400"/>
            <a:ext cx="1208118" cy="21488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742383" y="4251960"/>
            <a:ext cx="1992111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4-в-1 тозалаш
Супуриш, ювиш, вакуум
Сменада минглаб м²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МОДЕЛ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Robosant BellaBot — зал юлдузи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41248"/>
            <a:ext cx="11338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PUDU BellaBot асосида: меҳмонни хурсанд қилади, официантни енгиллаштиради.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234440"/>
            <a:ext cx="3246120" cy="512064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4038600" cy="48463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703320" y="1234440"/>
            <a:ext cx="4434840" cy="512064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1371600"/>
            <a:ext cx="4160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4 катта токча, ҳар бирига 10 кг, жами 40 кг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Dual SLAM: LiDAR + визуал навигация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3 RGBD камера, 0,5 сонияда тўхтов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Автомобил даражасидаги амортизация — таом тўкилмайди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Инфрақизил токча сенсорлари — бўш/банд аниқлаш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Батарея алмаштириш: 24/7 смена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PUDU Link: чақириш, назорат, статистика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Тезлик 0,5–1,2 м/с, йўлак ~65–70 см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23444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136245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Ўлчам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169164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56,5 × 53,7 × 129 см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49839" y="123444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04703" y="136245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Оғирлик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04703" y="169164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55 кг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251460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0184" y="264261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Юк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4" y="297180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40 кг (10 кг / токча)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39" y="251460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04703" y="264261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Токча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04703" y="297180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41 × 50 см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79476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4" y="392277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Батарея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4" y="425196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13 соат (юксиз)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39" y="379476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04703" y="392277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Заряд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04703" y="425196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4,5 соат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507492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520293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Нишаб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0184" y="553212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≤ 5°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49839" y="5074920"/>
            <a:ext cx="1783080" cy="1170432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04703" y="5202936"/>
            <a:ext cx="1673352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Навигация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04703" y="5532120"/>
            <a:ext cx="1673352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Dual SLAM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МОДЕЛ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PuduBot 2 ва KettyBot — оқим ва маркетинг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5623560" cy="5074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udu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791793" cy="2331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60320" y="1554480"/>
            <a:ext cx="32004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PuduBot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0"/>
            <a:ext cx="5166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Универсал етказиб берувчи: таом, ичимлик, ҳужжат, кичик юк. Стандарт 3 токча, 7 гача кенгайтирилади. VSLAM+ ва 2 LiDAR. Ресторан, ошхона линияси ва ошхона–зал йўлаги учун ишончли «юк машинаси».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80160"/>
            <a:ext cx="5623560" cy="5074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ket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1776925" cy="2331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66760" y="1554480"/>
            <a:ext cx="32004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KettyBot 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40480"/>
            <a:ext cx="5166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Тор зал ва кафе учун: 52–55 см йўлакдан ўтади. 18,5" экран — меню, акция, бренд. Меҳмонни столга кузатиб қўяди, круиз-режимда закуска айлантиради. 2 токча, 30 кг.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МОДЕЛ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HolaBot ва CC1 Pro — ортикча ишни олиб ташлаш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5623560" cy="5074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o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507984" cy="2331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60320" y="1554480"/>
            <a:ext cx="32004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HolaBot — идиш йиғиш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0"/>
            <a:ext cx="5166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Ёпиқ бўлинмалар, 60 кг гача. Официант тугма босади — робот идишни олиб кетади. Тўкилиш ва шовқин камаяди, зал тоза кўринади. Пикдан кейинги «ифлослик тўлқини»ни робот ўз зиммасига олади.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80160"/>
            <a:ext cx="5623560" cy="5074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1310937" cy="2331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66760" y="1554480"/>
            <a:ext cx="320040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CC1 Pro — тозалаш 4-в-1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40480"/>
            <a:ext cx="5166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Супуриш, ювиш, вакуум ва қуруқ артиш. VSLAM+ + LiDAR. Сменада катта майдон. Холл, йўлак, ошхона олди. Ходимлар тозалаш эмас, меҳмонга қайтади.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ТАҚҚОСЛАШ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Қайси робот қайси вазифага?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1920240" cy="713232"/>
          </a:xfrm>
          <a:prstGeom prst="rect">
            <a:avLst/>
          </a:prstGeom>
          <a:solidFill>
            <a:srgbClr val="0B3A6A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1490472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Модел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325880"/>
            <a:ext cx="2331720" cy="713232"/>
          </a:xfrm>
          <a:prstGeom prst="rect">
            <a:avLst/>
          </a:prstGeom>
          <a:solidFill>
            <a:srgbClr val="0B3A6A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40864" y="1490472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Вазифа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1325880"/>
            <a:ext cx="1554480" cy="713232"/>
          </a:xfrm>
          <a:prstGeom prst="rect">
            <a:avLst/>
          </a:prstGeom>
          <a:solidFill>
            <a:srgbClr val="0B3A6A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2584" y="1490472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Юк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325880"/>
            <a:ext cx="2286000" cy="713232"/>
          </a:xfrm>
          <a:prstGeom prst="rect">
            <a:avLst/>
          </a:prstGeom>
          <a:solidFill>
            <a:srgbClr val="0B3A6A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490472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Токча / бўлинма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1325880"/>
            <a:ext cx="1691640" cy="713232"/>
          </a:xfrm>
          <a:prstGeom prst="rect">
            <a:avLst/>
          </a:prstGeom>
          <a:solidFill>
            <a:srgbClr val="0B3A6A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3064" y="1490472"/>
            <a:ext cx="1600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Йўлак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0" y="1325880"/>
            <a:ext cx="1645920" cy="713232"/>
          </a:xfrm>
          <a:prstGeom prst="rect">
            <a:avLst/>
          </a:prstGeom>
          <a:solidFill>
            <a:srgbClr val="0B3A6A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04704" y="1490472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Смена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039112"/>
            <a:ext cx="192024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2203704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BellaBot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2039112"/>
            <a:ext cx="233172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40864" y="2203704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Таом етказиш, WOW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2039112"/>
            <a:ext cx="155448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72584" y="2203704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40 кг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2039112"/>
            <a:ext cx="228600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27064" y="2203704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4 очиқ токча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58200" y="2039112"/>
            <a:ext cx="169164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13064" y="2203704"/>
            <a:ext cx="1600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~65 см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49840" y="2039112"/>
            <a:ext cx="164592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04704" y="2203704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13+ соат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752344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" y="2916936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PuduBot 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2752344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40864" y="2916936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Универсал етказиш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17720" y="2752344"/>
            <a:ext cx="1554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72584" y="2916936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40 кг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2752344"/>
            <a:ext cx="2286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7064" y="2916936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3–7 токча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8200" y="2752344"/>
            <a:ext cx="1691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13064" y="2916936"/>
            <a:ext cx="1600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ўрта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49840" y="2752344"/>
            <a:ext cx="1645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04704" y="2916936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узоқ смена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465576"/>
            <a:ext cx="192024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4" y="3630168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KettyBot Pro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0" y="3465576"/>
            <a:ext cx="233172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40864" y="3630168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Кутиш + реклама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17720" y="3465576"/>
            <a:ext cx="155448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72584" y="3630168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30 кг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3465576"/>
            <a:ext cx="228600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27064" y="3630168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2 токча + экран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8200" y="3465576"/>
            <a:ext cx="169164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13064" y="3630168"/>
            <a:ext cx="1600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52–55 см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149840" y="3465576"/>
            <a:ext cx="164592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04704" y="3630168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8–12 соат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4178808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0624" y="434340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HolaBot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86000" y="4178808"/>
            <a:ext cx="2331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340864" y="4343400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Идиш йиғиш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17720" y="4178808"/>
            <a:ext cx="1554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72584" y="4343400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60 кг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72200" y="4178808"/>
            <a:ext cx="2286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27064" y="43434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ёпиқ бўлинма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58200" y="4178808"/>
            <a:ext cx="1691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13064" y="4343400"/>
            <a:ext cx="1600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зал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149840" y="4178808"/>
            <a:ext cx="1645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04704" y="4343400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8–10 соат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4892040"/>
            <a:ext cx="192024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0624" y="5056632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CC1 Pro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86000" y="4892040"/>
            <a:ext cx="233172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340864" y="5056632"/>
            <a:ext cx="22402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Пол тозалаш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617720" y="4892040"/>
            <a:ext cx="155448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672584" y="5056632"/>
            <a:ext cx="14630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клининг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72200" y="4892040"/>
            <a:ext cx="228600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27064" y="5056632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4-в-1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58200" y="4892040"/>
            <a:ext cx="169164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13064" y="5056632"/>
            <a:ext cx="1600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холл/йўлак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149840" y="4892040"/>
            <a:ext cx="1645920" cy="713232"/>
          </a:xfrm>
          <a:prstGeom prst="rect">
            <a:avLst/>
          </a:prstGeom>
          <a:solidFill>
            <a:srgbClr val="E8F3FC"/>
          </a:solidFill>
          <a:ln w="12700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204704" y="5056632"/>
            <a:ext cx="1554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9 соат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АФЗАЛЛИК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Ресторанга нима беради?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408176"/>
            <a:ext cx="34015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Тезроқ сервис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755648"/>
            <a:ext cx="3401568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Бир рейсда бир неча стол. Пикда 30–40% тезроқ етказиш — жаҳон амалиёти.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28016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2" y="1408176"/>
            <a:ext cx="34015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Официант — меҳмонга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1755648"/>
            <a:ext cx="3401568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Варанка эмас, сотув ва меҳмондўстлик. Upsell ва чаевые ўсади.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28016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408176"/>
            <a:ext cx="34015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Стабил сифат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755648"/>
            <a:ext cx="3401568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Робот чарчамайди, йўлни унутмайди, смена охирида ҳам бир хил ишлайди.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9476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922776"/>
            <a:ext cx="34015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Меҳмон тажрибаси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270248"/>
            <a:ext cx="3401568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BellaBot юзи, овоз ва ёруғлик — болалар ва оилалар учун магнит. Контент ўзи тарқалади.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9476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6552" y="3922776"/>
            <a:ext cx="34015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Кадр хавфини пасайтириш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4270248"/>
            <a:ext cx="3401568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Битта ходим касал — зал тўхтамайди. Робот база юкни олиб қолади.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79476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3922776"/>
            <a:ext cx="3401568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Тоза зал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4270248"/>
            <a:ext cx="3401568" cy="174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Идиш тез йиғилади, пол кечаси/эрталаб робот билан стандартда тоза.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ИҚТИСОД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Қандай қайтади: мантиқ, намойиш рақам эмас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841248"/>
            <a:ext cx="1133856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Аниқ ROI объект харитаси ва сменадан кейин ҳисобланади. Қуйида — қарор мантиғи.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45336"/>
            <a:ext cx="245973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Харажат камаяди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892808"/>
            <a:ext cx="2459736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Етказиш ва идиш йиғишдаги такрорий қадамлар. Кечки пикда қўшимча сменага эҳтиёж пасаяди.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545336"/>
            <a:ext cx="245973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Тушум ўсади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892808"/>
            <a:ext cx="2459736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Столлик тезроқ бўшайди. Меҳмон кутмайди — яна келади. Робот ўзи маркетинг.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545336"/>
            <a:ext cx="245973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Хато арзонлашади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1892808"/>
            <a:ext cx="2459736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Нотўғри стол, тўкилиш, совуқ таом — камроқ компенсация ва негатив шарҳ.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98864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3456" y="1545336"/>
            <a:ext cx="2459736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Бошқарув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892808"/>
            <a:ext cx="2459736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Дашборд: неча рейс, қайси зона секин, қачон пик. Қарор сезги эмас, маълумот.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ЖОРИЙ ЭТИШ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4 қадам: синовдан сменагача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24231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2514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Аудит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06324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Зал, ошхона йўли, Wi-Fi, пандус, энг тор йўлак, пик сценарий.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2918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0128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1645920"/>
            <a:ext cx="24231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331720"/>
            <a:ext cx="2514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Пилот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06324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1 роботни ўз/сизнинг залингизда. Харита, ўқитиш, 7–14 кун ўлчов.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6168" y="32918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1645920"/>
            <a:ext cx="24231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331720"/>
            <a:ext cx="2514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Мослаш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06324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Чақириш тугмалари, меню-экран, бренд-овоз, ходим регламенти.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0536" y="329184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98864" y="1417320"/>
            <a:ext cx="2788920" cy="48463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81744" y="1645920"/>
            <a:ext cx="24231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6024" y="2331720"/>
            <a:ext cx="2514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Сервис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3456" y="3063240"/>
            <a:ext cx="2468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Кафолат, профилактика, эҳтиёт қисм, янги сменани ўқитиш.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ХАВФСИЗЛИК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Меҳмон ва ходим ёнида хавфсиз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25880"/>
            <a:ext cx="11338560" cy="498348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LiDAR + камералар: одам, стул оёғи, сумка — тўхтайди ва айланиб ўтади.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Тезлик залга мосланади. Бола ва ногиронлик аравачаси сценарийлари ўқитилади.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Ёпиқ бўлинма (HolaBot / FlashBot типи) — иссиқ идиш ва махфий етказиш.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Автозаряд: батарея пасайса ўзи станцияга қайтади.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Кўп робот: scheduler тўқнашувни олдини олади.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РАҚОБАТ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Нега айнан шу линия?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11338560" cy="114300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237744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PUDU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481328"/>
            <a:ext cx="83210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100 000+ робот, 80+ давлат. Ресторан сегментида BellaBot — энг таниқли «юз».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542032"/>
            <a:ext cx="11338560" cy="11430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79192"/>
            <a:ext cx="237744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KEENON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743200"/>
            <a:ext cx="83210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T8/T9/T10 — тор зал ва юқори юк. Hilton, Shangri-La, фастфуд тармоқлари.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803904"/>
            <a:ext cx="11338560" cy="114300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41064"/>
            <a:ext cx="237744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Bear / OrionStar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005072"/>
            <a:ext cx="83210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АҚШ ва Осиёдаги сервис роботлари — сценарий ва UX ни ўрганамиз, энг яхшисини жорий қиламиз.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065776"/>
            <a:ext cx="11338560" cy="114300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02936"/>
            <a:ext cx="237744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STARLAB фарқи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266944"/>
            <a:ext cx="832104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Лицензия, IT ва AI тажрибаси + маҳаллий сервис. Робот сизнинг IT ва Wi-Fi инфратузилмангизга уланади.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A6BB5"/>
                </a:solidFill>
                <a:latin typeface="Calibri"/>
                <a:ea typeface="Calibri"/>
                <a:cs typeface="Calibri"/>
              </a:rPr>
              <a:t>ПАКЕТ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20624"/>
            <a:ext cx="113385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Сиз нима олиб кетасиз?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2718739" cy="105156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389888"/>
            <a:ext cx="27187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1 йил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1810512"/>
            <a:ext cx="2572435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кафолат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4811" y="1280160"/>
            <a:ext cx="2718739" cy="105156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4811" y="1389888"/>
            <a:ext cx="27187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24/7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7963" y="1810512"/>
            <a:ext cx="2572435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сервис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1280160"/>
            <a:ext cx="2718739" cy="105156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8143" y="1389888"/>
            <a:ext cx="27187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PUDU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1295" y="1810512"/>
            <a:ext cx="2572435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STARLAB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475" y="1280160"/>
            <a:ext cx="2718739" cy="105156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475" y="1389888"/>
            <a:ext cx="2718739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Robosant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627" y="1810512"/>
            <a:ext cx="2572435" cy="43891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бренд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560320"/>
            <a:ext cx="8595360" cy="3749039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743200"/>
            <a:ext cx="8138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Робот + заряд станцияси + асосий аксессуарлар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Объект харитаси ва навигация созлаш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Ходимлар ўқитиши (зал + ошхона, 1–2 смена)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Меҳмон сценарийи: овоз, экран, бренд номи Robosant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1 йил кафолат ва маҳаллий техқўллаб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2E45"/>
                </a:solidFill>
                <a:latin typeface="Calibri"/>
                <a:ea typeface="Calibri"/>
                <a:cs typeface="Calibri"/>
              </a:rPr>
              <a:t>▸  Кенгайтириш: 2-робот, клининг, меҳмонхона линияси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2560320"/>
            <a:ext cx="2606040" cy="3749039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2697480"/>
            <a:ext cx="28956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6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8638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Кейинги қадам — залингизда 30 дақиқалик демо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7863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Харитага қаранг, робот юришини кўринг, пик-соат саволини бирга ёпинг.</a:t>
            </a:r>
          </a:p>
        </p:txBody>
      </p:sp>
      <p:pic>
        <p:nvPicPr>
          <p:cNvPr id="7" name="Picture 6" descr="be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365760"/>
            <a:ext cx="1943100" cy="2331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2468880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2514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+998 71 200 19 99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468880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788920"/>
            <a:ext cx="2514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info@starlab.uz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468880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788920"/>
            <a:ext cx="2514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starlab.uz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468880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E8F3FC"/>
          </a:solidFill>
          <a:ln w="15875">
            <a:solidFill>
              <a:srgbClr val="C5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788920"/>
            <a:ext cx="2514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B3A6A"/>
                </a:solidFill>
                <a:latin typeface="Calibri"/>
                <a:ea typeface="Calibri"/>
                <a:cs typeface="Calibri"/>
              </a:rPr>
              <a:t>Тошкент, Чилонзор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40480"/>
            <a:ext cx="10972800" cy="1051560"/>
          </a:xfrm>
          <a:prstGeom prst="roundRect">
            <a:avLst>
              <a:gd name="adj" fmla="val 8000"/>
            </a:avLst>
          </a:prstGeom>
          <a:solidFill>
            <a:srgbClr val="0B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Демо ва тижорий таклиф сўранг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20640"/>
            <a:ext cx="10972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A6E84"/>
                </a:solidFill>
                <a:latin typeface="Calibri"/>
                <a:ea typeface="Calibri"/>
                <a:cs typeface="Calibri"/>
              </a:rPr>
              <a:t>STARLAB  ·  Robotics Solutions Partner  ·  starlab.uz  ·  +998 71 200 19 99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