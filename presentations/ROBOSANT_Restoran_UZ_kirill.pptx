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B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01168" y="0"/>
            <a:ext cx="73152" cy="6858000"/>
          </a:xfrm>
          <a:prstGeom prst="rect">
            <a:avLst/>
          </a:prstGeom>
          <a:solidFill>
            <a:srgbClr val="1A6B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5989320"/>
            <a:ext cx="12191695" cy="868680"/>
          </a:xfrm>
          <a:prstGeom prst="rect">
            <a:avLst/>
          </a:prstGeom>
          <a:solidFill>
            <a:srgbClr val="0B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11480"/>
            <a:ext cx="109728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>
                <a:solidFill>
                  <a:srgbClr val="1A6BB5"/>
                </a:solidFill>
                <a:latin typeface="Calibri"/>
                <a:ea typeface="Calibri"/>
                <a:cs typeface="Calibri"/>
              </a:rPr>
              <a:t>RESTORANLAR УЧУН СОТУВ ПРЕЗЕНТАЦИЯСИ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914400"/>
            <a:ext cx="10972800" cy="10058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54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ROBOSANT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65960"/>
            <a:ext cx="105156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0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Ресторанингизда сервис роботлари — етказиб бериш, идиш йиғиш ва тозалаш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788920"/>
            <a:ext cx="10789920" cy="640080"/>
          </a:xfrm>
          <a:prstGeom prst="roundRect">
            <a:avLst>
              <a:gd name="adj" fmla="val 8000"/>
            </a:avLst>
          </a:prstGeom>
          <a:solidFill>
            <a:srgbClr val="E8F3FC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907792"/>
            <a:ext cx="1042416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Биз оддий импортёр эмасмиз. Биз — Robotics Solutions Partner.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657600"/>
            <a:ext cx="10789920" cy="11887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000" b="0">
                <a:solidFill>
                  <a:srgbClr val="5A6E84"/>
                </a:solidFill>
                <a:latin typeface="Calibri"/>
                <a:ea typeface="Calibri"/>
                <a:cs typeface="Calibri"/>
              </a:rPr>
              <a:t>«Сиз технологияни ўз ресторанингизда синаб, унинг бизнесингизга реал фойдасини кўрасиз.»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126480"/>
            <a:ext cx="109728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STARLAB  ·  Robotics Solutions Partner  ·  starlab.uz  ·  +998 71 200 19 99    ·    Robotics Solutions Partner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6B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B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STARLAB  ·  Robotics Solutions Partner  ·  starlab.uz  ·  +998 71 200 19 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656832"/>
            <a:ext cx="155448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01168"/>
            <a:ext cx="1133856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>
                <a:solidFill>
                  <a:srgbClr val="1A6BB5"/>
                </a:solidFill>
                <a:latin typeface="Calibri"/>
                <a:ea typeface="Calibri"/>
                <a:cs typeface="Calibri"/>
              </a:rPr>
              <a:t>БОЗОР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20624"/>
            <a:ext cx="11338560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Ресторанлар нимадан йўқотишмоқда?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841248"/>
            <a:ext cx="11338560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>
                <a:solidFill>
                  <a:srgbClr val="5A6E84"/>
                </a:solidFill>
                <a:latin typeface="Calibri"/>
                <a:ea typeface="Calibri"/>
                <a:cs typeface="Calibri"/>
              </a:rPr>
              <a:t>Ходим етишмаслиги, пик-соатлар ва ностандарт сервис — маржани еяди.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325880"/>
            <a:ext cx="5623560" cy="2176272"/>
          </a:xfrm>
          <a:prstGeom prst="roundRect">
            <a:avLst>
              <a:gd name="adj" fmla="val 8000"/>
            </a:avLst>
          </a:prstGeom>
          <a:solidFill>
            <a:srgbClr val="F7FBFF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6072" y="1453896"/>
            <a:ext cx="5294376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Пик-соатда секинлик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" y="1801368"/>
            <a:ext cx="5294376" cy="1591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Ошхона тайёр, зал эса кутяпти. Столлик айланиши пасайиб, ҳисоб камаяди.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325880"/>
            <a:ext cx="5623560" cy="2176272"/>
          </a:xfrm>
          <a:prstGeom prst="roundRect">
            <a:avLst>
              <a:gd name="adj" fmla="val 8000"/>
            </a:avLst>
          </a:prstGeom>
          <a:solidFill>
            <a:srgbClr val="F7FBFF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82512" y="1453896"/>
            <a:ext cx="5294376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Кадрлар харажати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82512" y="1801368"/>
            <a:ext cx="5294376" cy="1591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Официант варанка ва идиш ташишга кетади. Меҳмон билан ишлашга вақт қолмайди.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1480" y="3657600"/>
            <a:ext cx="5623560" cy="2176272"/>
          </a:xfrm>
          <a:prstGeom prst="roundRect">
            <a:avLst>
              <a:gd name="adj" fmla="val 8000"/>
            </a:avLst>
          </a:prstGeom>
          <a:solidFill>
            <a:srgbClr val="F7FBFF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6072" y="3785616"/>
            <a:ext cx="5294376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Хато ва тўкилиш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6072" y="4133088"/>
            <a:ext cx="5294376" cy="1591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Чарчоқ сменада хатолар кўпаяди: нотўғри стол, совуқ таом, норозилик.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3657600"/>
            <a:ext cx="5623560" cy="2176272"/>
          </a:xfrm>
          <a:prstGeom prst="roundRect">
            <a:avLst>
              <a:gd name="adj" fmla="val 8000"/>
            </a:avLst>
          </a:prstGeom>
          <a:solidFill>
            <a:srgbClr val="F7FBFF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82512" y="3785616"/>
            <a:ext cx="5294376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Рақобатда фарқ йўқ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82512" y="4133088"/>
            <a:ext cx="5294376" cy="1591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Меҳмон замонавий сервис ва Instagram-тайёр тажриба кутади.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6B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B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STARLAB  ·  Robotics Solutions Partner  ·  starlab.uz  ·  +998 71 200 19 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656832"/>
            <a:ext cx="155448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01168"/>
            <a:ext cx="1133856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>
                <a:solidFill>
                  <a:srgbClr val="1A6BB5"/>
                </a:solidFill>
                <a:latin typeface="Calibri"/>
                <a:ea typeface="Calibri"/>
                <a:cs typeface="Calibri"/>
              </a:rPr>
              <a:t>ЁНДАШУВ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20624"/>
            <a:ext cx="11338560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Нега STARLAB сотувчи эмас — ҳамкор?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841248"/>
            <a:ext cx="11338560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>
                <a:solidFill>
                  <a:srgbClr val="5A6E84"/>
                </a:solidFill>
                <a:latin typeface="Calibri"/>
                <a:ea typeface="Calibri"/>
                <a:cs typeface="Calibri"/>
              </a:rPr>
              <a:t>Роботни «қўйиб кетиш» эмас: объектга мослаш, ўқитиш, сервис ва натижа.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371600"/>
            <a:ext cx="2743200" cy="4937760"/>
          </a:xfrm>
          <a:prstGeom prst="roundRect">
            <a:avLst>
              <a:gd name="adj" fmla="val 8000"/>
            </a:avLst>
          </a:prstGeom>
          <a:solidFill>
            <a:srgbClr val="F7FBFF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1499616"/>
            <a:ext cx="2414016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Ўз ресторанда синов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1847088"/>
            <a:ext cx="2414016" cy="4352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Технологияни аввал ўз объектимизда ишлатамиз. Сизга намойиш рақамлар эмас, реал смена тажрибаси келади.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10128" y="1371600"/>
            <a:ext cx="2743200" cy="4937760"/>
          </a:xfrm>
          <a:prstGeom prst="roundRect">
            <a:avLst>
              <a:gd name="adj" fmla="val 8000"/>
            </a:avLst>
          </a:prstGeom>
          <a:solidFill>
            <a:srgbClr val="F7FBFF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720" y="1499616"/>
            <a:ext cx="2414016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Ечим, техника эмас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1847088"/>
            <a:ext cx="2414016" cy="4352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Моделни танлаш, харита, лифт/Wi-Fi, ходимлар сценарийси — битта лойиҳа сифатида.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54496" y="1371600"/>
            <a:ext cx="2743200" cy="4937760"/>
          </a:xfrm>
          <a:prstGeom prst="roundRect">
            <a:avLst>
              <a:gd name="adj" fmla="val 8000"/>
            </a:avLst>
          </a:prstGeom>
          <a:solidFill>
            <a:srgbClr val="F7FBFF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19088" y="1499616"/>
            <a:ext cx="2414016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Маҳаллий сервис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9088" y="1847088"/>
            <a:ext cx="2414016" cy="4352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Ўзбекистонда ўрнатиш, кафолат, эҳтиёт қисм ва 24/7 қўллаб-қувватлаш.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98864" y="1371600"/>
            <a:ext cx="2743200" cy="4937760"/>
          </a:xfrm>
          <a:prstGeom prst="roundRect">
            <a:avLst>
              <a:gd name="adj" fmla="val 8000"/>
            </a:avLst>
          </a:prstGeom>
          <a:solidFill>
            <a:srgbClr val="F7FBFF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63456" y="1499616"/>
            <a:ext cx="2414016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Robosant бренди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63456" y="1847088"/>
            <a:ext cx="2414016" cy="4352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Залдаги робот сизнинг сервисингиз юзи. Ном, сценарий ва меҳмон тажрибаси бирга қурилади.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6B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B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STARLAB  ·  Robotics Solutions Partner  ·  starlab.uz  ·  +998 71 200 19 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656832"/>
            <a:ext cx="155448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01168"/>
            <a:ext cx="1133856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>
                <a:solidFill>
                  <a:srgbClr val="1A6BB5"/>
                </a:solidFill>
                <a:latin typeface="Calibri"/>
                <a:ea typeface="Calibri"/>
                <a:cs typeface="Calibri"/>
              </a:rPr>
              <a:t>ЛИНИЯ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20624"/>
            <a:ext cx="11338560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Ресторан учун роботлар оиласи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841248"/>
            <a:ext cx="11338560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>
                <a:solidFill>
                  <a:srgbClr val="5A6E84"/>
                </a:solidFill>
                <a:latin typeface="Calibri"/>
                <a:ea typeface="Calibri"/>
                <a:cs typeface="Calibri"/>
              </a:rPr>
              <a:t>Бир бренд остида: етказиб бериш, кутиб олиш, идиш йиғиш, тозалаш.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371600"/>
            <a:ext cx="2174991" cy="4937760"/>
          </a:xfrm>
          <a:prstGeom prst="roundRect">
            <a:avLst>
              <a:gd name="adj" fmla="val 8000"/>
            </a:avLst>
          </a:prstGeom>
          <a:solidFill>
            <a:srgbClr val="F7FBFF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1371600"/>
            <a:ext cx="2174991" cy="109728"/>
          </a:xfrm>
          <a:prstGeom prst="rect">
            <a:avLst/>
          </a:prstGeom>
          <a:solidFill>
            <a:srgbClr val="1A6B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1645920"/>
            <a:ext cx="1955535" cy="10058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5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Robosant BellaBot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" y="2743200"/>
            <a:ext cx="195553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Таом ва ичимлик етказиш
4 токча · 40 кг
Dual SLAM · 13 соат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687055" y="1371600"/>
            <a:ext cx="2174991" cy="4937760"/>
          </a:xfrm>
          <a:prstGeom prst="roundRect">
            <a:avLst>
              <a:gd name="adj" fmla="val 8000"/>
            </a:avLst>
          </a:prstGeom>
          <a:solidFill>
            <a:srgbClr val="F7FBFF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687055" y="1371600"/>
            <a:ext cx="2174991" cy="109728"/>
          </a:xfrm>
          <a:prstGeom prst="rect">
            <a:avLst/>
          </a:prstGeom>
          <a:solidFill>
            <a:srgbClr val="1A6B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96783" y="1645920"/>
            <a:ext cx="1955535" cy="10058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5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PuduBot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96783" y="2743200"/>
            <a:ext cx="195553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Универсал етказиш
3–7 токча · 40 кг
VSLAM+ ва LiDAR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08351" y="1371600"/>
            <a:ext cx="2174991" cy="4937760"/>
          </a:xfrm>
          <a:prstGeom prst="roundRect">
            <a:avLst>
              <a:gd name="adj" fmla="val 8000"/>
            </a:avLst>
          </a:prstGeom>
          <a:solidFill>
            <a:srgbClr val="F7FBFF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08351" y="1371600"/>
            <a:ext cx="2174991" cy="109728"/>
          </a:xfrm>
          <a:prstGeom prst="rect">
            <a:avLst/>
          </a:prstGeom>
          <a:solidFill>
            <a:srgbClr val="1A6B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18079" y="1645920"/>
            <a:ext cx="1955535" cy="10058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5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KettyBot Pro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18079" y="2743200"/>
            <a:ext cx="195553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Кутиб олиш + реклама
Экран 18,5" · тора йўлак
Столга кузатиб қўйиш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29647" y="1371600"/>
            <a:ext cx="2174991" cy="4937760"/>
          </a:xfrm>
          <a:prstGeom prst="roundRect">
            <a:avLst>
              <a:gd name="adj" fmla="val 8000"/>
            </a:avLst>
          </a:prstGeom>
          <a:solidFill>
            <a:srgbClr val="F7FBFF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29647" y="1371600"/>
            <a:ext cx="2174991" cy="109728"/>
          </a:xfrm>
          <a:prstGeom prst="rect">
            <a:avLst/>
          </a:prstGeom>
          <a:solidFill>
            <a:srgbClr val="1A6B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39375" y="1645920"/>
            <a:ext cx="1955535" cy="10058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5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HolaBot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39375" y="2743200"/>
            <a:ext cx="195553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Идиш йиғиш
Ёпиқ бўлинмалар · 60 кг
Чақириш тугмаси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650943" y="1371600"/>
            <a:ext cx="2174991" cy="4937760"/>
          </a:xfrm>
          <a:prstGeom prst="roundRect">
            <a:avLst>
              <a:gd name="adj" fmla="val 8000"/>
            </a:avLst>
          </a:prstGeom>
          <a:solidFill>
            <a:srgbClr val="F7FBFF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650943" y="1371600"/>
            <a:ext cx="2174991" cy="109728"/>
          </a:xfrm>
          <a:prstGeom prst="rect">
            <a:avLst/>
          </a:prstGeom>
          <a:solidFill>
            <a:srgbClr val="1A6B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760671" y="1645920"/>
            <a:ext cx="1955535" cy="10058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5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CC1 Pro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60671" y="2743200"/>
            <a:ext cx="195553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4-в-1 тозалаш
Супуриш, ювиш, вакуум
Сменада минглаб м²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6B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B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STARLAB  ·  Robotics Solutions Partner  ·  starlab.uz  ·  +998 71 200 19 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656832"/>
            <a:ext cx="155448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01168"/>
            <a:ext cx="1133856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>
                <a:solidFill>
                  <a:srgbClr val="1A6BB5"/>
                </a:solidFill>
                <a:latin typeface="Calibri"/>
                <a:ea typeface="Calibri"/>
                <a:cs typeface="Calibri"/>
              </a:rPr>
              <a:t>МОДЕЛ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20624"/>
            <a:ext cx="11338560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Robosant BellaBot — зал юлдузи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841248"/>
            <a:ext cx="11338560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>
                <a:solidFill>
                  <a:srgbClr val="5A6E84"/>
                </a:solidFill>
                <a:latin typeface="Calibri"/>
                <a:ea typeface="Calibri"/>
                <a:cs typeface="Calibri"/>
              </a:rPr>
              <a:t>PUDU BellaBot асосида: меҳмонни хурсанд қилади, официантни енгиллаштиради.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280160"/>
            <a:ext cx="6675120" cy="5074920"/>
          </a:xfrm>
          <a:prstGeom prst="roundRect">
            <a:avLst>
              <a:gd name="adj" fmla="val 8000"/>
            </a:avLst>
          </a:prstGeom>
          <a:solidFill>
            <a:srgbClr val="F7FBFF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463040"/>
            <a:ext cx="6309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▸  4 катта токча, ҳар бирига 10 кг, жами 40 кг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▸  Dual SLAM: LiDAR + визуал навигация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▸  3 RGBD камера, 0,5 сонияда тўхтов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▸  Автомобил даражасидаги амортизация — таом тўкилмайди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▸  Инфрақизил токча сенсорлари — бўш/банд аниқлаш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▸  Батарея алмаштириш: 24/7 смена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▸  PUDU Link: чақириш, назорат, статистика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▸  Тезлик 0,5–1,2 м/с, йўлак ~65–70 см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23760" y="1280160"/>
            <a:ext cx="2194560" cy="1143000"/>
          </a:xfrm>
          <a:prstGeom prst="roundRect">
            <a:avLst>
              <a:gd name="adj" fmla="val 8000"/>
            </a:avLst>
          </a:prstGeom>
          <a:solidFill>
            <a:srgbClr val="E8F3FC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0" y="1417320"/>
            <a:ext cx="20116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100" b="0">
                <a:solidFill>
                  <a:srgbClr val="5A6E84"/>
                </a:solidFill>
                <a:latin typeface="Calibri"/>
                <a:ea typeface="Calibri"/>
                <a:cs typeface="Calibri"/>
              </a:rPr>
              <a:t>Ўлчам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96912" y="1737360"/>
            <a:ext cx="2048256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3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56,5 × 53,7 × 129 см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55480" y="1280160"/>
            <a:ext cx="2194560" cy="1143000"/>
          </a:xfrm>
          <a:prstGeom prst="roundRect">
            <a:avLst>
              <a:gd name="adj" fmla="val 8000"/>
            </a:avLst>
          </a:prstGeom>
          <a:solidFill>
            <a:srgbClr val="E8F3FC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46920" y="1417320"/>
            <a:ext cx="20116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100" b="0">
                <a:solidFill>
                  <a:srgbClr val="5A6E84"/>
                </a:solidFill>
                <a:latin typeface="Calibri"/>
                <a:ea typeface="Calibri"/>
                <a:cs typeface="Calibri"/>
              </a:rPr>
              <a:t>Оғирлик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28632" y="1737360"/>
            <a:ext cx="2048256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3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55 кг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23760" y="2542032"/>
            <a:ext cx="2194560" cy="1143000"/>
          </a:xfrm>
          <a:prstGeom prst="roundRect">
            <a:avLst>
              <a:gd name="adj" fmla="val 8000"/>
            </a:avLst>
          </a:prstGeom>
          <a:solidFill>
            <a:srgbClr val="E8F3FC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0" y="2679192"/>
            <a:ext cx="20116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100" b="0">
                <a:solidFill>
                  <a:srgbClr val="5A6E84"/>
                </a:solidFill>
                <a:latin typeface="Calibri"/>
                <a:ea typeface="Calibri"/>
                <a:cs typeface="Calibri"/>
              </a:rPr>
              <a:t>Юк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96912" y="2999232"/>
            <a:ext cx="2048256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3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40 кг (10 кг / токча)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555480" y="2542032"/>
            <a:ext cx="2194560" cy="1143000"/>
          </a:xfrm>
          <a:prstGeom prst="roundRect">
            <a:avLst>
              <a:gd name="adj" fmla="val 8000"/>
            </a:avLst>
          </a:prstGeom>
          <a:solidFill>
            <a:srgbClr val="E8F3FC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46920" y="2679192"/>
            <a:ext cx="20116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100" b="0">
                <a:solidFill>
                  <a:srgbClr val="5A6E84"/>
                </a:solidFill>
                <a:latin typeface="Calibri"/>
                <a:ea typeface="Calibri"/>
                <a:cs typeface="Calibri"/>
              </a:rPr>
              <a:t>Токча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28632" y="2999232"/>
            <a:ext cx="2048256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3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41 × 50 см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23760" y="3803904"/>
            <a:ext cx="2194560" cy="1143000"/>
          </a:xfrm>
          <a:prstGeom prst="roundRect">
            <a:avLst>
              <a:gd name="adj" fmla="val 8000"/>
            </a:avLst>
          </a:prstGeom>
          <a:solidFill>
            <a:srgbClr val="E8F3FC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0" y="3941064"/>
            <a:ext cx="20116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100" b="0">
                <a:solidFill>
                  <a:srgbClr val="5A6E84"/>
                </a:solidFill>
                <a:latin typeface="Calibri"/>
                <a:ea typeface="Calibri"/>
                <a:cs typeface="Calibri"/>
              </a:rPr>
              <a:t>Батарея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96912" y="4261104"/>
            <a:ext cx="2048256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3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13 соат (юксиз)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555480" y="3803904"/>
            <a:ext cx="2194560" cy="1143000"/>
          </a:xfrm>
          <a:prstGeom prst="roundRect">
            <a:avLst>
              <a:gd name="adj" fmla="val 8000"/>
            </a:avLst>
          </a:prstGeom>
          <a:solidFill>
            <a:srgbClr val="E8F3FC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46920" y="3941064"/>
            <a:ext cx="20116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100" b="0">
                <a:solidFill>
                  <a:srgbClr val="5A6E84"/>
                </a:solidFill>
                <a:latin typeface="Calibri"/>
                <a:ea typeface="Calibri"/>
                <a:cs typeface="Calibri"/>
              </a:rPr>
              <a:t>Заряд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28632" y="4261104"/>
            <a:ext cx="2048256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3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4,5 соат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223760" y="5065776"/>
            <a:ext cx="2194560" cy="1143000"/>
          </a:xfrm>
          <a:prstGeom prst="roundRect">
            <a:avLst>
              <a:gd name="adj" fmla="val 8000"/>
            </a:avLst>
          </a:prstGeom>
          <a:solidFill>
            <a:srgbClr val="E8F3FC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0" y="5202936"/>
            <a:ext cx="20116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100" b="0">
                <a:solidFill>
                  <a:srgbClr val="5A6E84"/>
                </a:solidFill>
                <a:latin typeface="Calibri"/>
                <a:ea typeface="Calibri"/>
                <a:cs typeface="Calibri"/>
              </a:rPr>
              <a:t>Нишаб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96912" y="5522976"/>
            <a:ext cx="2048256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3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≤ 5°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555480" y="5065776"/>
            <a:ext cx="2194560" cy="1143000"/>
          </a:xfrm>
          <a:prstGeom prst="roundRect">
            <a:avLst>
              <a:gd name="adj" fmla="val 8000"/>
            </a:avLst>
          </a:prstGeom>
          <a:solidFill>
            <a:srgbClr val="E8F3FC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46920" y="5202936"/>
            <a:ext cx="20116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100" b="0">
                <a:solidFill>
                  <a:srgbClr val="5A6E84"/>
                </a:solidFill>
                <a:latin typeface="Calibri"/>
                <a:ea typeface="Calibri"/>
                <a:cs typeface="Calibri"/>
              </a:rPr>
              <a:t>Навигация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28632" y="5522976"/>
            <a:ext cx="2048256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3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Dual SLAM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6B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B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STARLAB  ·  Robotics Solutions Partner  ·  starlab.uz  ·  +998 71 200 19 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656832"/>
            <a:ext cx="155448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01168"/>
            <a:ext cx="1133856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>
                <a:solidFill>
                  <a:srgbClr val="1A6BB5"/>
                </a:solidFill>
                <a:latin typeface="Calibri"/>
                <a:ea typeface="Calibri"/>
                <a:cs typeface="Calibri"/>
              </a:rPr>
              <a:t>МОДЕЛ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20624"/>
            <a:ext cx="11338560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PuduBot 2 ва KettyBot — оқим ва маркетинг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325880"/>
            <a:ext cx="5623560" cy="4937760"/>
          </a:xfrm>
          <a:prstGeom prst="roundRect">
            <a:avLst>
              <a:gd name="adj" fmla="val 8000"/>
            </a:avLst>
          </a:prstGeom>
          <a:solidFill>
            <a:srgbClr val="F7FBFF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453896"/>
            <a:ext cx="5294376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0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PuduBot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1801368"/>
            <a:ext cx="5294376" cy="4352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Универсал етказиб берувчи: таом, ичимлик, ҳужжат, кичик юк. Стандарт 3 токча, 7 гача кенгайтирилади. VSLAM+ ва 2 LiDAR. Ресторан, ошхона линияси ва ошхона–зал йўлаги учун ишончли «юк машинаси».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325880"/>
            <a:ext cx="5623560" cy="4937760"/>
          </a:xfrm>
          <a:prstGeom prst="roundRect">
            <a:avLst>
              <a:gd name="adj" fmla="val 8000"/>
            </a:avLst>
          </a:prstGeom>
          <a:solidFill>
            <a:srgbClr val="F7FBFF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36792" y="1453896"/>
            <a:ext cx="5294376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0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KettyBot Pro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36792" y="1801368"/>
            <a:ext cx="5294376" cy="4352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Тор зал ва кафе учун: 52–55 см йўлакдан ўтади. 18,5" экран — меню, акция, бренд. Меҳмонни столга кузатиб қўяди, круиз-режимда закуска айлантиради. 2 токча, 30 кг.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6B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B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STARLAB  ·  Robotics Solutions Partner  ·  starlab.uz  ·  +998 71 200 19 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656832"/>
            <a:ext cx="155448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01168"/>
            <a:ext cx="1133856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>
                <a:solidFill>
                  <a:srgbClr val="1A6BB5"/>
                </a:solidFill>
                <a:latin typeface="Calibri"/>
                <a:ea typeface="Calibri"/>
                <a:cs typeface="Calibri"/>
              </a:rPr>
              <a:t>МОДЕЛ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20624"/>
            <a:ext cx="11338560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HolaBot ва CC1 Pro — ортикча ишни олиб ташлаш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325880"/>
            <a:ext cx="5623560" cy="4937760"/>
          </a:xfrm>
          <a:prstGeom prst="roundRect">
            <a:avLst>
              <a:gd name="adj" fmla="val 8000"/>
            </a:avLst>
          </a:prstGeom>
          <a:solidFill>
            <a:srgbClr val="F7FBFF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453896"/>
            <a:ext cx="5294376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0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HolaBot — идиш йиғиш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1801368"/>
            <a:ext cx="5294376" cy="4352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Ёпиқ бўлинмалар, 60 кг гача. Официант тугма босади — робот идишни олиб кетади. Тўкилиш ва шовқин камаяди, зал тоза кўринади. Пикдан кейинги «ифлослик тўлқини»ни робот ўз зиммасига олади.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325880"/>
            <a:ext cx="5623560" cy="4937760"/>
          </a:xfrm>
          <a:prstGeom prst="roundRect">
            <a:avLst>
              <a:gd name="adj" fmla="val 8000"/>
            </a:avLst>
          </a:prstGeom>
          <a:solidFill>
            <a:srgbClr val="F7FBFF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36792" y="1453896"/>
            <a:ext cx="5294376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0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CC1 Pro — тозалаш 4-в-1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36792" y="1801368"/>
            <a:ext cx="5294376" cy="4352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Супуриш, ювиш, вакуум ва қуруқ артиш. VSLAM+ + LiDAR. Сменада катта майдон. Холл, йўлак, ошхона олди. Ходимлар тозалаш эмас, меҳмонга қайтади.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6B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B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STARLAB  ·  Robotics Solutions Partner  ·  starlab.uz  ·  +998 71 200 19 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656832"/>
            <a:ext cx="155448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01168"/>
            <a:ext cx="1133856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>
                <a:solidFill>
                  <a:srgbClr val="1A6BB5"/>
                </a:solidFill>
                <a:latin typeface="Calibri"/>
                <a:ea typeface="Calibri"/>
                <a:cs typeface="Calibri"/>
              </a:rPr>
              <a:t>ТАҚҚОСЛАШ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20624"/>
            <a:ext cx="11338560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Қайси робот қайси вазифага?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325880"/>
            <a:ext cx="1920240" cy="713232"/>
          </a:xfrm>
          <a:prstGeom prst="rect">
            <a:avLst/>
          </a:prstGeom>
          <a:solidFill>
            <a:srgbClr val="0B3A6A"/>
          </a:solidFill>
          <a:ln w="12700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0624" y="1490472"/>
            <a:ext cx="18288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Модел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86000" y="1325880"/>
            <a:ext cx="2331720" cy="713232"/>
          </a:xfrm>
          <a:prstGeom prst="rect">
            <a:avLst/>
          </a:prstGeom>
          <a:solidFill>
            <a:srgbClr val="0B3A6A"/>
          </a:solidFill>
          <a:ln w="12700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40864" y="1490472"/>
            <a:ext cx="22402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Вазифа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17720" y="1325880"/>
            <a:ext cx="1554480" cy="713232"/>
          </a:xfrm>
          <a:prstGeom prst="rect">
            <a:avLst/>
          </a:prstGeom>
          <a:solidFill>
            <a:srgbClr val="0B3A6A"/>
          </a:solidFill>
          <a:ln w="12700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72584" y="1490472"/>
            <a:ext cx="14630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Юк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1325880"/>
            <a:ext cx="2286000" cy="713232"/>
          </a:xfrm>
          <a:prstGeom prst="rect">
            <a:avLst/>
          </a:prstGeom>
          <a:solidFill>
            <a:srgbClr val="0B3A6A"/>
          </a:solidFill>
          <a:ln w="12700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27064" y="1490472"/>
            <a:ext cx="219456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Токча / бўлинма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58200" y="1325880"/>
            <a:ext cx="1691640" cy="713232"/>
          </a:xfrm>
          <a:prstGeom prst="rect">
            <a:avLst/>
          </a:prstGeom>
          <a:solidFill>
            <a:srgbClr val="0B3A6A"/>
          </a:solidFill>
          <a:ln w="12700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13064" y="1490472"/>
            <a:ext cx="1600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Йўлак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149840" y="1325880"/>
            <a:ext cx="1645920" cy="713232"/>
          </a:xfrm>
          <a:prstGeom prst="rect">
            <a:avLst/>
          </a:prstGeom>
          <a:solidFill>
            <a:srgbClr val="0B3A6A"/>
          </a:solidFill>
          <a:ln w="12700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04704" y="1490472"/>
            <a:ext cx="15544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Смена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039112"/>
            <a:ext cx="1920240" cy="713232"/>
          </a:xfrm>
          <a:prstGeom prst="rect">
            <a:avLst/>
          </a:prstGeom>
          <a:solidFill>
            <a:srgbClr val="E8F3FC"/>
          </a:solidFill>
          <a:ln w="12700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0624" y="2203704"/>
            <a:ext cx="18288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BellaBot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286000" y="2039112"/>
            <a:ext cx="2331720" cy="713232"/>
          </a:xfrm>
          <a:prstGeom prst="rect">
            <a:avLst/>
          </a:prstGeom>
          <a:solidFill>
            <a:srgbClr val="E8F3FC"/>
          </a:solidFill>
          <a:ln w="12700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340864" y="2203704"/>
            <a:ext cx="22402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Таом етказиш, WOW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617720" y="2039112"/>
            <a:ext cx="1554480" cy="713232"/>
          </a:xfrm>
          <a:prstGeom prst="rect">
            <a:avLst/>
          </a:prstGeom>
          <a:solidFill>
            <a:srgbClr val="E8F3FC"/>
          </a:solidFill>
          <a:ln w="12700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72584" y="2203704"/>
            <a:ext cx="14630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40 кг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72200" y="2039112"/>
            <a:ext cx="2286000" cy="713232"/>
          </a:xfrm>
          <a:prstGeom prst="rect">
            <a:avLst/>
          </a:prstGeom>
          <a:solidFill>
            <a:srgbClr val="E8F3FC"/>
          </a:solidFill>
          <a:ln w="12700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27064" y="2203704"/>
            <a:ext cx="219456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4 очиқ токча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458200" y="2039112"/>
            <a:ext cx="1691640" cy="713232"/>
          </a:xfrm>
          <a:prstGeom prst="rect">
            <a:avLst/>
          </a:prstGeom>
          <a:solidFill>
            <a:srgbClr val="E8F3FC"/>
          </a:solidFill>
          <a:ln w="12700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13064" y="2203704"/>
            <a:ext cx="1600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~65 см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149840" y="2039112"/>
            <a:ext cx="1645920" cy="713232"/>
          </a:xfrm>
          <a:prstGeom prst="rect">
            <a:avLst/>
          </a:prstGeom>
          <a:solidFill>
            <a:srgbClr val="E8F3FC"/>
          </a:solidFill>
          <a:ln w="12700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04704" y="2203704"/>
            <a:ext cx="15544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13+ соат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752344"/>
            <a:ext cx="19202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20624" y="2916936"/>
            <a:ext cx="18288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PuduBot 2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286000" y="2752344"/>
            <a:ext cx="23317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340864" y="2916936"/>
            <a:ext cx="22402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Универсал етказиш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617720" y="2752344"/>
            <a:ext cx="155448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672584" y="2916936"/>
            <a:ext cx="14630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40 кг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172200" y="2752344"/>
            <a:ext cx="22860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27064" y="2916936"/>
            <a:ext cx="219456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3–7 токча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458200" y="2752344"/>
            <a:ext cx="16916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513064" y="2916936"/>
            <a:ext cx="1600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ўрта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149840" y="2752344"/>
            <a:ext cx="16459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204704" y="2916936"/>
            <a:ext cx="15544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узоқ смена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465576"/>
            <a:ext cx="1920240" cy="713232"/>
          </a:xfrm>
          <a:prstGeom prst="rect">
            <a:avLst/>
          </a:prstGeom>
          <a:solidFill>
            <a:srgbClr val="E8F3FC"/>
          </a:solidFill>
          <a:ln w="12700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20624" y="3630168"/>
            <a:ext cx="18288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KettyBot Pro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286000" y="3465576"/>
            <a:ext cx="2331720" cy="713232"/>
          </a:xfrm>
          <a:prstGeom prst="rect">
            <a:avLst/>
          </a:prstGeom>
          <a:solidFill>
            <a:srgbClr val="E8F3FC"/>
          </a:solidFill>
          <a:ln w="12700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340864" y="3630168"/>
            <a:ext cx="22402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Кутиш + реклама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617720" y="3465576"/>
            <a:ext cx="1554480" cy="713232"/>
          </a:xfrm>
          <a:prstGeom prst="rect">
            <a:avLst/>
          </a:prstGeom>
          <a:solidFill>
            <a:srgbClr val="E8F3FC"/>
          </a:solidFill>
          <a:ln w="12700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672584" y="3630168"/>
            <a:ext cx="14630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30 кг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172200" y="3465576"/>
            <a:ext cx="2286000" cy="713232"/>
          </a:xfrm>
          <a:prstGeom prst="rect">
            <a:avLst/>
          </a:prstGeom>
          <a:solidFill>
            <a:srgbClr val="E8F3FC"/>
          </a:solidFill>
          <a:ln w="12700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227064" y="3630168"/>
            <a:ext cx="219456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2 токча + экран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458200" y="3465576"/>
            <a:ext cx="1691640" cy="713232"/>
          </a:xfrm>
          <a:prstGeom prst="rect">
            <a:avLst/>
          </a:prstGeom>
          <a:solidFill>
            <a:srgbClr val="E8F3FC"/>
          </a:solidFill>
          <a:ln w="12700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513064" y="3630168"/>
            <a:ext cx="1600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52–55 см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0149840" y="3465576"/>
            <a:ext cx="1645920" cy="713232"/>
          </a:xfrm>
          <a:prstGeom prst="rect">
            <a:avLst/>
          </a:prstGeom>
          <a:solidFill>
            <a:srgbClr val="E8F3FC"/>
          </a:solidFill>
          <a:ln w="12700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204704" y="3630168"/>
            <a:ext cx="15544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8–12 соат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65760" y="4178808"/>
            <a:ext cx="19202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20624" y="4343400"/>
            <a:ext cx="18288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HolaBot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286000" y="4178808"/>
            <a:ext cx="23317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340864" y="4343400"/>
            <a:ext cx="22402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Идиш йиғиш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617720" y="4178808"/>
            <a:ext cx="155448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672584" y="4343400"/>
            <a:ext cx="14630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60 кг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172200" y="4178808"/>
            <a:ext cx="22860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227064" y="4343400"/>
            <a:ext cx="219456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ёпиқ бўлинма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458200" y="4178808"/>
            <a:ext cx="16916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513064" y="4343400"/>
            <a:ext cx="1600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зал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0149840" y="4178808"/>
            <a:ext cx="16459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0204704" y="4343400"/>
            <a:ext cx="15544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8–10 соат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65760" y="4892040"/>
            <a:ext cx="1920240" cy="713232"/>
          </a:xfrm>
          <a:prstGeom prst="rect">
            <a:avLst/>
          </a:prstGeom>
          <a:solidFill>
            <a:srgbClr val="E8F3FC"/>
          </a:solidFill>
          <a:ln w="12700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20624" y="5056632"/>
            <a:ext cx="18288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CC1 Pro</a:t>
            </a:r>
          </a:p>
        </p:txBody>
      </p:sp>
      <p:sp>
        <p:nvSpPr>
          <p:cNvPr id="71" name="Rectangle 70"/>
          <p:cNvSpPr/>
          <p:nvPr/>
        </p:nvSpPr>
        <p:spPr>
          <a:xfrm>
            <a:off x="2286000" y="4892040"/>
            <a:ext cx="2331720" cy="713232"/>
          </a:xfrm>
          <a:prstGeom prst="rect">
            <a:avLst/>
          </a:prstGeom>
          <a:solidFill>
            <a:srgbClr val="E8F3FC"/>
          </a:solidFill>
          <a:ln w="12700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340864" y="5056632"/>
            <a:ext cx="22402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Пол тозалаш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617720" y="4892040"/>
            <a:ext cx="1554480" cy="713232"/>
          </a:xfrm>
          <a:prstGeom prst="rect">
            <a:avLst/>
          </a:prstGeom>
          <a:solidFill>
            <a:srgbClr val="E8F3FC"/>
          </a:solidFill>
          <a:ln w="12700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672584" y="5056632"/>
            <a:ext cx="14630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клининг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172200" y="4892040"/>
            <a:ext cx="2286000" cy="713232"/>
          </a:xfrm>
          <a:prstGeom prst="rect">
            <a:avLst/>
          </a:prstGeom>
          <a:solidFill>
            <a:srgbClr val="E8F3FC"/>
          </a:solidFill>
          <a:ln w="12700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227064" y="5056632"/>
            <a:ext cx="219456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4-в-1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458200" y="4892040"/>
            <a:ext cx="1691640" cy="713232"/>
          </a:xfrm>
          <a:prstGeom prst="rect">
            <a:avLst/>
          </a:prstGeom>
          <a:solidFill>
            <a:srgbClr val="E8F3FC"/>
          </a:solidFill>
          <a:ln w="12700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513064" y="5056632"/>
            <a:ext cx="1600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холл/йўлак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0149840" y="4892040"/>
            <a:ext cx="1645920" cy="713232"/>
          </a:xfrm>
          <a:prstGeom prst="rect">
            <a:avLst/>
          </a:prstGeom>
          <a:solidFill>
            <a:srgbClr val="E8F3FC"/>
          </a:solidFill>
          <a:ln w="12700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0204704" y="5056632"/>
            <a:ext cx="15544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9 соат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6B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B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STARLAB  ·  Robotics Solutions Partner  ·  starlab.uz  ·  +998 71 200 19 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656832"/>
            <a:ext cx="155448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01168"/>
            <a:ext cx="1133856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>
                <a:solidFill>
                  <a:srgbClr val="1A6BB5"/>
                </a:solidFill>
                <a:latin typeface="Calibri"/>
                <a:ea typeface="Calibri"/>
                <a:cs typeface="Calibri"/>
              </a:rPr>
              <a:t>АФЗАЛЛИК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20624"/>
            <a:ext cx="11338560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Ресторанга нима беради?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280160"/>
            <a:ext cx="3730752" cy="2331720"/>
          </a:xfrm>
          <a:prstGeom prst="roundRect">
            <a:avLst>
              <a:gd name="adj" fmla="val 8000"/>
            </a:avLst>
          </a:prstGeom>
          <a:solidFill>
            <a:srgbClr val="F7FBFF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408176"/>
            <a:ext cx="3401568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Тезроқ сервис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1755648"/>
            <a:ext cx="3401568" cy="1746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Бир рейсда бир неча стол. Пикда 30–40% тезроқ етказиш — жаҳон амалиёти.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1960" y="1280160"/>
            <a:ext cx="3730752" cy="2331720"/>
          </a:xfrm>
          <a:prstGeom prst="roundRect">
            <a:avLst>
              <a:gd name="adj" fmla="val 8000"/>
            </a:avLst>
          </a:prstGeom>
          <a:solidFill>
            <a:srgbClr val="F7FBFF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16552" y="1408176"/>
            <a:ext cx="3401568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Официант — меҳмонга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16552" y="1755648"/>
            <a:ext cx="3401568" cy="1746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Варанка эмас, сотув ва меҳмондўстлик. Upsell ва чаевые ўсади.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1280160"/>
            <a:ext cx="3730752" cy="2331720"/>
          </a:xfrm>
          <a:prstGeom prst="roundRect">
            <a:avLst>
              <a:gd name="adj" fmla="val 8000"/>
            </a:avLst>
          </a:prstGeom>
          <a:solidFill>
            <a:srgbClr val="F7FBFF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02752" y="1408176"/>
            <a:ext cx="3401568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Стабил сифат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02752" y="1755648"/>
            <a:ext cx="3401568" cy="1746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Робот чарчамайди, йўлни унутмайди, смена охирида ҳам бир хил ишлайди.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3794760"/>
            <a:ext cx="3730752" cy="2331720"/>
          </a:xfrm>
          <a:prstGeom prst="roundRect">
            <a:avLst>
              <a:gd name="adj" fmla="val 8000"/>
            </a:avLst>
          </a:prstGeom>
          <a:solidFill>
            <a:srgbClr val="F7FBFF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0352" y="3922776"/>
            <a:ext cx="3401568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Меҳмон тажрибаси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" y="4270248"/>
            <a:ext cx="3401568" cy="1746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BellaBot юзи, овоз ва ёруғлик — болалар ва оилалар учун магнит. Контент ўзи тарқалади.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51960" y="3794760"/>
            <a:ext cx="3730752" cy="2331720"/>
          </a:xfrm>
          <a:prstGeom prst="roundRect">
            <a:avLst>
              <a:gd name="adj" fmla="val 8000"/>
            </a:avLst>
          </a:prstGeom>
          <a:solidFill>
            <a:srgbClr val="F7FBFF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16552" y="3922776"/>
            <a:ext cx="3401568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Кадр хавфини пасайтириш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16552" y="4270248"/>
            <a:ext cx="3401568" cy="1746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Битта ходим касал — зал тўхтамайди. Робот база юкни олиб қолади.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38160" y="3794760"/>
            <a:ext cx="3730752" cy="2331720"/>
          </a:xfrm>
          <a:prstGeom prst="roundRect">
            <a:avLst>
              <a:gd name="adj" fmla="val 8000"/>
            </a:avLst>
          </a:prstGeom>
          <a:solidFill>
            <a:srgbClr val="F7FBFF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02752" y="3922776"/>
            <a:ext cx="3401568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Тоза зал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02752" y="4270248"/>
            <a:ext cx="3401568" cy="1746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Идиш тез йиғилади, пол кечаси/эрталаб робот билан стандартда тоза.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6B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B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STARLAB  ·  Robotics Solutions Partner  ·  starlab.uz  ·  +998 71 200 19 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656832"/>
            <a:ext cx="155448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01168"/>
            <a:ext cx="1133856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>
                <a:solidFill>
                  <a:srgbClr val="1A6BB5"/>
                </a:solidFill>
                <a:latin typeface="Calibri"/>
                <a:ea typeface="Calibri"/>
                <a:cs typeface="Calibri"/>
              </a:rPr>
              <a:t>ИҚТИСОД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20624"/>
            <a:ext cx="11338560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Қандай қайтади: мантиқ, намойиш рақам эмас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841248"/>
            <a:ext cx="11338560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>
                <a:solidFill>
                  <a:srgbClr val="5A6E84"/>
                </a:solidFill>
                <a:latin typeface="Calibri"/>
                <a:ea typeface="Calibri"/>
                <a:cs typeface="Calibri"/>
              </a:rPr>
              <a:t>Аниқ ROI объект харитаси ва сменадан кейин ҳисобланади. Қуйида — қарор мантиғи.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417320"/>
            <a:ext cx="2788920" cy="4846320"/>
          </a:xfrm>
          <a:prstGeom prst="roundRect">
            <a:avLst>
              <a:gd name="adj" fmla="val 8000"/>
            </a:avLst>
          </a:prstGeom>
          <a:solidFill>
            <a:srgbClr val="F7FBFF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1545336"/>
            <a:ext cx="2459736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Харажат камаяди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1892808"/>
            <a:ext cx="2459736" cy="4261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Етказиш ва идиш йиғишдаги такрорий қадамлар. Кечки пикда қўшимча сменага эҳтиёж пасаяди.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10128" y="1417320"/>
            <a:ext cx="2788920" cy="4846320"/>
          </a:xfrm>
          <a:prstGeom prst="roundRect">
            <a:avLst>
              <a:gd name="adj" fmla="val 8000"/>
            </a:avLst>
          </a:prstGeom>
          <a:solidFill>
            <a:srgbClr val="F7FBFF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720" y="1545336"/>
            <a:ext cx="2459736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Тушум ўсади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1892808"/>
            <a:ext cx="2459736" cy="4261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Столлик тезроқ бўшайди. Меҳмон кутмайди — яна келади. Робот ўзи маркетинг.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54496" y="1417320"/>
            <a:ext cx="2788920" cy="4846320"/>
          </a:xfrm>
          <a:prstGeom prst="roundRect">
            <a:avLst>
              <a:gd name="adj" fmla="val 8000"/>
            </a:avLst>
          </a:prstGeom>
          <a:solidFill>
            <a:srgbClr val="F7FBFF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19088" y="1545336"/>
            <a:ext cx="2459736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Хато арзонлашади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9088" y="1892808"/>
            <a:ext cx="2459736" cy="4261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Нотўғри стол, тўкилиш, совуқ таом — камроқ компенсация ва негатив шарҳ.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98864" y="1417320"/>
            <a:ext cx="2788920" cy="4846320"/>
          </a:xfrm>
          <a:prstGeom prst="roundRect">
            <a:avLst>
              <a:gd name="adj" fmla="val 8000"/>
            </a:avLst>
          </a:prstGeom>
          <a:solidFill>
            <a:srgbClr val="F7FBFF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63456" y="1545336"/>
            <a:ext cx="2459736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Бошқарув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63456" y="1892808"/>
            <a:ext cx="2459736" cy="4261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Дашборд: неча рейс, қайси зона секин, қачон пик. Қарор сезги эмас, маълумот.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6B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B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STARLAB  ·  Robotics Solutions Partner  ·  starlab.uz  ·  +998 71 200 19 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656832"/>
            <a:ext cx="155448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01168"/>
            <a:ext cx="1133856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>
                <a:solidFill>
                  <a:srgbClr val="1A6BB5"/>
                </a:solidFill>
                <a:latin typeface="Calibri"/>
                <a:ea typeface="Calibri"/>
                <a:cs typeface="Calibri"/>
              </a:rPr>
              <a:t>ЖОРИЙ ЭТИШ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20624"/>
            <a:ext cx="11338560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4 қадам: синовдан сменагача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417320"/>
            <a:ext cx="2788920" cy="4846320"/>
          </a:xfrm>
          <a:prstGeom prst="roundRect">
            <a:avLst>
              <a:gd name="adj" fmla="val 8000"/>
            </a:avLst>
          </a:prstGeom>
          <a:solidFill>
            <a:srgbClr val="F7FBFF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645920"/>
            <a:ext cx="242316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3200" b="1">
                <a:solidFill>
                  <a:srgbClr val="1A6BB5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331720"/>
            <a:ext cx="25146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8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Аудит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3063240"/>
            <a:ext cx="246888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Зал, ошхона йўли, Wi-Fi, пандус, энг тор йўлак, пик сценарий.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71800" y="3291840"/>
            <a:ext cx="3657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200" b="1">
                <a:solidFill>
                  <a:srgbClr val="1A6BB5"/>
                </a:solidFill>
                <a:latin typeface="Calibri"/>
                <a:ea typeface="Calibri"/>
                <a:cs typeface="Calibri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10128" y="1417320"/>
            <a:ext cx="2788920" cy="4846320"/>
          </a:xfrm>
          <a:prstGeom prst="roundRect">
            <a:avLst>
              <a:gd name="adj" fmla="val 8000"/>
            </a:avLst>
          </a:prstGeom>
          <a:solidFill>
            <a:srgbClr val="F7FBFF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93008" y="1645920"/>
            <a:ext cx="242316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3200" b="1">
                <a:solidFill>
                  <a:srgbClr val="1A6BB5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47288" y="2331720"/>
            <a:ext cx="25146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8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Пилот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3063240"/>
            <a:ext cx="246888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1 роботни ўз/сизнинг залингизда. Харита, ўқитиш, 7–14 кун ўлчов.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16168" y="3291840"/>
            <a:ext cx="3657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200" b="1">
                <a:solidFill>
                  <a:srgbClr val="1A6BB5"/>
                </a:solidFill>
                <a:latin typeface="Calibri"/>
                <a:ea typeface="Calibri"/>
                <a:cs typeface="Calibri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54496" y="1417320"/>
            <a:ext cx="2788920" cy="4846320"/>
          </a:xfrm>
          <a:prstGeom prst="roundRect">
            <a:avLst>
              <a:gd name="adj" fmla="val 8000"/>
            </a:avLst>
          </a:prstGeom>
          <a:solidFill>
            <a:srgbClr val="F7FBFF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37376" y="1645920"/>
            <a:ext cx="242316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3200" b="1">
                <a:solidFill>
                  <a:srgbClr val="1A6BB5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1656" y="2331720"/>
            <a:ext cx="25146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8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Мослаш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19088" y="3063240"/>
            <a:ext cx="246888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Чақириш тугмалари, меню-экран, бренд-овоз, ходим регламенти.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60536" y="3291840"/>
            <a:ext cx="3657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200" b="1">
                <a:solidFill>
                  <a:srgbClr val="1A6BB5"/>
                </a:solidFill>
                <a:latin typeface="Calibri"/>
                <a:ea typeface="Calibri"/>
                <a:cs typeface="Calibri"/>
              </a:rP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98864" y="1417320"/>
            <a:ext cx="2788920" cy="4846320"/>
          </a:xfrm>
          <a:prstGeom prst="roundRect">
            <a:avLst>
              <a:gd name="adj" fmla="val 8000"/>
            </a:avLst>
          </a:prstGeom>
          <a:solidFill>
            <a:srgbClr val="F7FBFF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81744" y="1645920"/>
            <a:ext cx="242316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3200" b="1">
                <a:solidFill>
                  <a:srgbClr val="1A6BB5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36024" y="2331720"/>
            <a:ext cx="25146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8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Сервис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63456" y="3063240"/>
            <a:ext cx="246888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Кафолат, профилактика, эҳтиёт қисм, янги сменани ўқитиш.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6B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B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STARLAB  ·  Robotics Solutions Partner  ·  starlab.uz  ·  +998 71 200 19 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656832"/>
            <a:ext cx="155448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01168"/>
            <a:ext cx="1133856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>
                <a:solidFill>
                  <a:srgbClr val="1A6BB5"/>
                </a:solidFill>
                <a:latin typeface="Calibri"/>
                <a:ea typeface="Calibri"/>
                <a:cs typeface="Calibri"/>
              </a:rPr>
              <a:t>ХАВФСИЗЛИК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20624"/>
            <a:ext cx="11338560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Меҳмон ва ходим ёнида хавфсиз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325880"/>
            <a:ext cx="11338560" cy="4983480"/>
          </a:xfrm>
          <a:prstGeom prst="roundRect">
            <a:avLst>
              <a:gd name="adj" fmla="val 8000"/>
            </a:avLst>
          </a:prstGeom>
          <a:solidFill>
            <a:srgbClr val="F7FBFF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0020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▸  LiDAR + камералар: одам, стул оёғи, сумка — тўхтайди ва айланиб ўтади.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▸  Тезлик залга мосланади. Бола ва ногиронлик аравачаси сценарийлари ўқитилади.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▸  Ёпиқ бўлинма (HolaBot / FlashBot типи) — иссиқ идиш ва махфий етказиш.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▸  Автозаряд: батарея пасайса ўзи станцияга қайтади.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▸  Кўп робот: scheduler тўқнашувни олдини олади.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6B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B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STARLAB  ·  Robotics Solutions Partner  ·  starlab.uz  ·  +998 71 200 19 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656832"/>
            <a:ext cx="155448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01168"/>
            <a:ext cx="1133856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>
                <a:solidFill>
                  <a:srgbClr val="1A6BB5"/>
                </a:solidFill>
                <a:latin typeface="Calibri"/>
                <a:ea typeface="Calibri"/>
                <a:cs typeface="Calibri"/>
              </a:rPr>
              <a:t>РАҚОБАТ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20624"/>
            <a:ext cx="11338560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Нега айнан шу линия?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280160"/>
            <a:ext cx="11338560" cy="1143000"/>
          </a:xfrm>
          <a:prstGeom prst="roundRect">
            <a:avLst>
              <a:gd name="adj" fmla="val 8000"/>
            </a:avLst>
          </a:prstGeom>
          <a:solidFill>
            <a:srgbClr val="E8F3FC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417320"/>
            <a:ext cx="2377440" cy="8686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PUDU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1481328"/>
            <a:ext cx="8321040" cy="7772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100 000+ робот, 80+ давлат. Ресторан сегментида BellaBot — энг таниқли «юз».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2542032"/>
            <a:ext cx="11338560" cy="1143000"/>
          </a:xfrm>
          <a:prstGeom prst="roundRect">
            <a:avLst>
              <a:gd name="adj" fmla="val 8000"/>
            </a:avLst>
          </a:prstGeom>
          <a:solidFill>
            <a:srgbClr val="F7FBFF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679192"/>
            <a:ext cx="2377440" cy="8686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KEENON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2743200"/>
            <a:ext cx="8321040" cy="7772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T8/T9/T10 — тор зал ва юқори юк. Hilton, Shangri-La, фастфуд тармоқлари.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803904"/>
            <a:ext cx="11338560" cy="1143000"/>
          </a:xfrm>
          <a:prstGeom prst="roundRect">
            <a:avLst>
              <a:gd name="adj" fmla="val 8000"/>
            </a:avLst>
          </a:prstGeom>
          <a:solidFill>
            <a:srgbClr val="E8F3FC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941064"/>
            <a:ext cx="2377440" cy="8686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Bear / OrionStar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08960" y="4005072"/>
            <a:ext cx="8321040" cy="7772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АҚШ ва Осиёдаги сервис роботлари — сценарий ва UX ни ўрганамиз, энг яхшисини жорий қиламиз.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5065776"/>
            <a:ext cx="11338560" cy="1143000"/>
          </a:xfrm>
          <a:prstGeom prst="roundRect">
            <a:avLst>
              <a:gd name="adj" fmla="val 8000"/>
            </a:avLst>
          </a:prstGeom>
          <a:solidFill>
            <a:srgbClr val="F7FBFF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202936"/>
            <a:ext cx="2377440" cy="8686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STARLAB фарқи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08960" y="5266944"/>
            <a:ext cx="8321040" cy="7772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Лицензия, IT ва AI тажрибаси + маҳаллий сервис. Робот сизнинг IT ва Wi-Fi инфратузилмангизга уланади.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6B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B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STARLAB  ·  Robotics Solutions Partner  ·  starlab.uz  ·  +998 71 200 19 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656832"/>
            <a:ext cx="155448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01168"/>
            <a:ext cx="1133856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>
                <a:solidFill>
                  <a:srgbClr val="1A6BB5"/>
                </a:solidFill>
                <a:latin typeface="Calibri"/>
                <a:ea typeface="Calibri"/>
                <a:cs typeface="Calibri"/>
              </a:rPr>
              <a:t>ПАКЕТ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20624"/>
            <a:ext cx="11338560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Сиз нима олиб кетасиз?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280160"/>
            <a:ext cx="2718739" cy="1051560"/>
          </a:xfrm>
          <a:prstGeom prst="roundRect">
            <a:avLst>
              <a:gd name="adj" fmla="val 8000"/>
            </a:avLst>
          </a:prstGeom>
          <a:solidFill>
            <a:srgbClr val="E8F3FC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389888"/>
            <a:ext cx="2718739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2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1 йил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" y="1810512"/>
            <a:ext cx="2572435" cy="438912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>
                <a:solidFill>
                  <a:srgbClr val="5A6E84"/>
                </a:solidFill>
                <a:latin typeface="Calibri"/>
                <a:ea typeface="Calibri"/>
                <a:cs typeface="Calibri"/>
              </a:rPr>
              <a:t>кафолат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4811" y="1280160"/>
            <a:ext cx="2718739" cy="1051560"/>
          </a:xfrm>
          <a:prstGeom prst="roundRect">
            <a:avLst>
              <a:gd name="adj" fmla="val 8000"/>
            </a:avLst>
          </a:prstGeom>
          <a:solidFill>
            <a:srgbClr val="E8F3FC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94811" y="1389888"/>
            <a:ext cx="2718739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2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24/7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67963" y="1810512"/>
            <a:ext cx="2572435" cy="438912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>
                <a:solidFill>
                  <a:srgbClr val="5A6E84"/>
                </a:solidFill>
                <a:latin typeface="Calibri"/>
                <a:ea typeface="Calibri"/>
                <a:cs typeface="Calibri"/>
              </a:rPr>
              <a:t>сервис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8143" y="1280160"/>
            <a:ext cx="2718739" cy="1051560"/>
          </a:xfrm>
          <a:prstGeom prst="roundRect">
            <a:avLst>
              <a:gd name="adj" fmla="val 8000"/>
            </a:avLst>
          </a:prstGeom>
          <a:solidFill>
            <a:srgbClr val="E8F3FC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78143" y="1389888"/>
            <a:ext cx="2718739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2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PUDU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51295" y="1810512"/>
            <a:ext cx="2572435" cy="438912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>
                <a:solidFill>
                  <a:srgbClr val="5A6E84"/>
                </a:solidFill>
                <a:latin typeface="Calibri"/>
                <a:ea typeface="Calibri"/>
                <a:cs typeface="Calibri"/>
              </a:rPr>
              <a:t>STARLAB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61475" y="1280160"/>
            <a:ext cx="2718739" cy="1051560"/>
          </a:xfrm>
          <a:prstGeom prst="roundRect">
            <a:avLst>
              <a:gd name="adj" fmla="val 8000"/>
            </a:avLst>
          </a:prstGeom>
          <a:solidFill>
            <a:srgbClr val="E8F3FC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61475" y="1389888"/>
            <a:ext cx="2718739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2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Robosant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34627" y="1810512"/>
            <a:ext cx="2572435" cy="438912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>
                <a:solidFill>
                  <a:srgbClr val="5A6E84"/>
                </a:solidFill>
                <a:latin typeface="Calibri"/>
                <a:ea typeface="Calibri"/>
                <a:cs typeface="Calibri"/>
              </a:rPr>
              <a:t>бренд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2560320"/>
            <a:ext cx="11338560" cy="3749039"/>
          </a:xfrm>
          <a:prstGeom prst="roundRect">
            <a:avLst>
              <a:gd name="adj" fmla="val 8000"/>
            </a:avLst>
          </a:prstGeom>
          <a:solidFill>
            <a:srgbClr val="F7FBFF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2788920"/>
            <a:ext cx="106984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▸  Робот + заряд станцияси + асосий аксессуарлар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▸  Объект харитаси ва навигация созлаш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▸  Ходимлар ўқитиши (зал + ошхона, 1–2 смена)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▸  Меҳмон сценарийи: овоз, экран, бренд номи Robosant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▸  1 йил кафолат ва маҳаллий техқўллаб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C2E45"/>
                </a:solidFill>
                <a:latin typeface="Calibri"/>
                <a:ea typeface="Calibri"/>
                <a:cs typeface="Calibri"/>
              </a:rPr>
              <a:t>▸  Кенгайтириш: 2-робот, клининг, меҳмонхона линияси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A6B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B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Кейинги қадам — залингизда 30 дақиқалик демо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0">
                <a:solidFill>
                  <a:srgbClr val="5A6E84"/>
                </a:solidFill>
                <a:latin typeface="Calibri"/>
                <a:ea typeface="Calibri"/>
                <a:cs typeface="Calibri"/>
              </a:rPr>
              <a:t>Харитага қаранг, робот юришини кўринг, пик-соат саволини бирга ёпинг.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743200"/>
            <a:ext cx="2697480" cy="1234440"/>
          </a:xfrm>
          <a:prstGeom prst="roundRect">
            <a:avLst>
              <a:gd name="adj" fmla="val 8000"/>
            </a:avLst>
          </a:prstGeom>
          <a:solidFill>
            <a:srgbClr val="E8F3FC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25146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+998 71 200 19 99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0" y="2743200"/>
            <a:ext cx="2697480" cy="1234440"/>
          </a:xfrm>
          <a:prstGeom prst="roundRect">
            <a:avLst>
              <a:gd name="adj" fmla="val 8000"/>
            </a:avLst>
          </a:prstGeom>
          <a:solidFill>
            <a:srgbClr val="E8F3FC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66160" y="3108960"/>
            <a:ext cx="25146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info@starlab.uz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2743200"/>
            <a:ext cx="2697480" cy="1234440"/>
          </a:xfrm>
          <a:prstGeom prst="roundRect">
            <a:avLst>
              <a:gd name="adj" fmla="val 8000"/>
            </a:avLst>
          </a:prstGeom>
          <a:solidFill>
            <a:srgbClr val="E8F3FC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3108960"/>
            <a:ext cx="25146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starlab.uz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0" y="2743200"/>
            <a:ext cx="2697480" cy="1234440"/>
          </a:xfrm>
          <a:prstGeom prst="roundRect">
            <a:avLst>
              <a:gd name="adj" fmla="val 8000"/>
            </a:avLst>
          </a:prstGeom>
          <a:solidFill>
            <a:srgbClr val="E8F3FC"/>
          </a:solidFill>
          <a:ln w="15875">
            <a:solidFill>
              <a:srgbClr val="C5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35440" y="3108960"/>
            <a:ext cx="25146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1">
                <a:solidFill>
                  <a:srgbClr val="0B3A6A"/>
                </a:solidFill>
                <a:latin typeface="Calibri"/>
                <a:ea typeface="Calibri"/>
                <a:cs typeface="Calibri"/>
              </a:rPr>
              <a:t>Тошкент, Чилонзор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297680"/>
            <a:ext cx="10972800" cy="1051560"/>
          </a:xfrm>
          <a:prstGeom prst="roundRect">
            <a:avLst>
              <a:gd name="adj" fmla="val 8000"/>
            </a:avLst>
          </a:prstGeom>
          <a:solidFill>
            <a:srgbClr val="0B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572000"/>
            <a:ext cx="109728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Демо ва тижорий таклиф сўранг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760720"/>
            <a:ext cx="109728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>
                <a:solidFill>
                  <a:srgbClr val="5A6E84"/>
                </a:solidFill>
                <a:latin typeface="Calibri"/>
                <a:ea typeface="Calibri"/>
                <a:cs typeface="Calibri"/>
              </a:rPr>
              <a:t>STARLAB  ·  Robotics Solutions Partner  ·  starlab.uz  ·  +998 71 200 19 99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